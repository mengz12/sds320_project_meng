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1" r:id="rId2"/>
    <p:sldId id="262" r:id="rId3"/>
    <p:sldId id="263" r:id="rId4"/>
    <p:sldId id="267" r:id="rId5"/>
    <p:sldId id="264" r:id="rId6"/>
    <p:sldId id="268" r:id="rId7"/>
    <p:sldId id="265" r:id="rId8"/>
    <p:sldId id="266" r:id="rId9"/>
    <p:sldId id="269" r:id="rId10"/>
    <p:sldId id="260" r:id="rId11"/>
    <p:sldId id="256" r:id="rId12"/>
    <p:sldId id="257" r:id="rId13"/>
    <p:sldId id="25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7"/>
    <p:restoredTop sz="94658"/>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7EFEB-4C5E-0748-B6FC-F99E4429BE78}" type="datetimeFigureOut">
              <a:rPr kumimoji="1" lang="zh-CN" altLang="en-US" smtClean="0"/>
              <a:t>2026/10/12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26502-3F49-6C4E-B259-7E45008D3712}" type="slidenum">
              <a:rPr kumimoji="1" lang="zh-CN" altLang="en-US" smtClean="0"/>
              <a:t>‹#›</a:t>
            </a:fld>
            <a:endParaRPr kumimoji="1" lang="zh-CN" altLang="en-US"/>
          </a:p>
        </p:txBody>
      </p:sp>
    </p:spTree>
    <p:extLst>
      <p:ext uri="{BB962C8B-B14F-4D97-AF65-F5344CB8AC3E}">
        <p14:creationId xmlns:p14="http://schemas.microsoft.com/office/powerpoint/2010/main" val="1908911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B6DD7-2CDA-38AC-BEF6-96DDA903E67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2326C3BF-8974-B4EB-A37B-65383D1703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B081F5ED-5C48-22A4-B02D-ED51AC0BF5BF}"/>
              </a:ext>
            </a:extLst>
          </p:cNvPr>
          <p:cNvSpPr>
            <a:spLocks noGrp="1"/>
          </p:cNvSpPr>
          <p:nvPr>
            <p:ph type="dt" sz="half" idx="10"/>
          </p:nvPr>
        </p:nvSpPr>
        <p:spPr/>
        <p:txBody>
          <a:bodyPr/>
          <a:lstStyle/>
          <a:p>
            <a:fld id="{25B7C531-AA35-BD42-8EDD-6497B840D1A1}" type="datetime1">
              <a:rPr kumimoji="1" lang="zh-CN" altLang="en-US" smtClean="0"/>
              <a:t>2026/10/12</a:t>
            </a:fld>
            <a:endParaRPr kumimoji="1" lang="zh-CN" altLang="en-US"/>
          </a:p>
        </p:txBody>
      </p:sp>
      <p:sp>
        <p:nvSpPr>
          <p:cNvPr id="5" name="页脚占位符 4">
            <a:extLst>
              <a:ext uri="{FF2B5EF4-FFF2-40B4-BE49-F238E27FC236}">
                <a16:creationId xmlns:a16="http://schemas.microsoft.com/office/drawing/2014/main" id="{F2341E37-9DF8-220F-3D6A-8A567967B0E1}"/>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6" name="灯片编号占位符 5">
            <a:extLst>
              <a:ext uri="{FF2B5EF4-FFF2-40B4-BE49-F238E27FC236}">
                <a16:creationId xmlns:a16="http://schemas.microsoft.com/office/drawing/2014/main" id="{645C88CF-003F-C58A-4197-0310CF2D71C9}"/>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2137386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D30D4-993E-A34B-FB1F-3B5239E398D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AABD35B-A4F0-7DDC-B066-E2E8F0401F3A}"/>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08D254C-1207-CA32-C5C0-AB2F1BE8CED3}"/>
              </a:ext>
            </a:extLst>
          </p:cNvPr>
          <p:cNvSpPr>
            <a:spLocks noGrp="1"/>
          </p:cNvSpPr>
          <p:nvPr>
            <p:ph type="dt" sz="half" idx="10"/>
          </p:nvPr>
        </p:nvSpPr>
        <p:spPr/>
        <p:txBody>
          <a:bodyPr/>
          <a:lstStyle/>
          <a:p>
            <a:fld id="{9E610810-8D85-3D43-B532-F5BEFD57356F}" type="datetime1">
              <a:rPr kumimoji="1" lang="zh-CN" altLang="en-US" smtClean="0"/>
              <a:t>2026/10/12</a:t>
            </a:fld>
            <a:endParaRPr kumimoji="1" lang="zh-CN" altLang="en-US"/>
          </a:p>
        </p:txBody>
      </p:sp>
      <p:sp>
        <p:nvSpPr>
          <p:cNvPr id="5" name="页脚占位符 4">
            <a:extLst>
              <a:ext uri="{FF2B5EF4-FFF2-40B4-BE49-F238E27FC236}">
                <a16:creationId xmlns:a16="http://schemas.microsoft.com/office/drawing/2014/main" id="{441B9A75-A73C-AE00-76BF-149158D8461A}"/>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6" name="灯片编号占位符 5">
            <a:extLst>
              <a:ext uri="{FF2B5EF4-FFF2-40B4-BE49-F238E27FC236}">
                <a16:creationId xmlns:a16="http://schemas.microsoft.com/office/drawing/2014/main" id="{9A09A9EC-D03F-1D60-04D9-8871630130EC}"/>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287556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B27DD-B40F-18BA-1316-EF6A2043069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788EA344-80FC-A348-4FD3-B27F0A525C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C0A9AFD-CB00-637A-9E54-3C8FE3120A0D}"/>
              </a:ext>
            </a:extLst>
          </p:cNvPr>
          <p:cNvSpPr>
            <a:spLocks noGrp="1"/>
          </p:cNvSpPr>
          <p:nvPr>
            <p:ph type="dt" sz="half" idx="10"/>
          </p:nvPr>
        </p:nvSpPr>
        <p:spPr/>
        <p:txBody>
          <a:bodyPr/>
          <a:lstStyle/>
          <a:p>
            <a:fld id="{7E8F8805-D90F-984B-9976-5EA3080F7F16}" type="datetime1">
              <a:rPr kumimoji="1" lang="zh-CN" altLang="en-US" smtClean="0"/>
              <a:t>2026/10/12</a:t>
            </a:fld>
            <a:endParaRPr kumimoji="1" lang="zh-CN" altLang="en-US"/>
          </a:p>
        </p:txBody>
      </p:sp>
      <p:sp>
        <p:nvSpPr>
          <p:cNvPr id="5" name="页脚占位符 4">
            <a:extLst>
              <a:ext uri="{FF2B5EF4-FFF2-40B4-BE49-F238E27FC236}">
                <a16:creationId xmlns:a16="http://schemas.microsoft.com/office/drawing/2014/main" id="{FA2A48FF-3107-AC44-93B4-8A96E32D9C2A}"/>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6" name="灯片编号占位符 5">
            <a:extLst>
              <a:ext uri="{FF2B5EF4-FFF2-40B4-BE49-F238E27FC236}">
                <a16:creationId xmlns:a16="http://schemas.microsoft.com/office/drawing/2014/main" id="{A559A154-B7E1-2B45-E798-3DB79F5143C5}"/>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2411464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95E05F-EF97-E29A-1831-B983277686A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60F57BD-F012-7015-A9C6-821C9183152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2722D907-939B-32AB-5F09-DB6F2D47ED7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5AD8BBA-F54B-F8BF-730D-0593A1FC9B22}"/>
              </a:ext>
            </a:extLst>
          </p:cNvPr>
          <p:cNvSpPr>
            <a:spLocks noGrp="1"/>
          </p:cNvSpPr>
          <p:nvPr>
            <p:ph type="dt" sz="half" idx="10"/>
          </p:nvPr>
        </p:nvSpPr>
        <p:spPr/>
        <p:txBody>
          <a:bodyPr/>
          <a:lstStyle/>
          <a:p>
            <a:fld id="{9B04A561-600E-D446-8429-320318904346}" type="datetime1">
              <a:rPr kumimoji="1" lang="zh-CN" altLang="en-US" smtClean="0"/>
              <a:t>2026/10/12</a:t>
            </a:fld>
            <a:endParaRPr kumimoji="1" lang="zh-CN" altLang="en-US"/>
          </a:p>
        </p:txBody>
      </p:sp>
      <p:sp>
        <p:nvSpPr>
          <p:cNvPr id="6" name="页脚占位符 5">
            <a:extLst>
              <a:ext uri="{FF2B5EF4-FFF2-40B4-BE49-F238E27FC236}">
                <a16:creationId xmlns:a16="http://schemas.microsoft.com/office/drawing/2014/main" id="{8138C165-B455-B845-1DBE-460E8E97F73C}"/>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7" name="灯片编号占位符 6">
            <a:extLst>
              <a:ext uri="{FF2B5EF4-FFF2-40B4-BE49-F238E27FC236}">
                <a16:creationId xmlns:a16="http://schemas.microsoft.com/office/drawing/2014/main" id="{EBF076AD-CE95-A77E-0E36-D29C1B08F3C4}"/>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3063153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2BA81-797D-0765-9BA7-4EB02919F480}"/>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C11AF89-F513-83BF-9B94-F09C0BB1B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0362913-121B-FAAE-6F8F-170F924D514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3F26DD9-249B-0FCC-8982-5F27FAAA25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BDEC8C0-C32C-27AF-3418-20B1E76AEFE9}"/>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9FD6B9C5-F01A-E18D-700E-E08C98064C9D}"/>
              </a:ext>
            </a:extLst>
          </p:cNvPr>
          <p:cNvSpPr>
            <a:spLocks noGrp="1"/>
          </p:cNvSpPr>
          <p:nvPr>
            <p:ph type="dt" sz="half" idx="10"/>
          </p:nvPr>
        </p:nvSpPr>
        <p:spPr/>
        <p:txBody>
          <a:bodyPr/>
          <a:lstStyle/>
          <a:p>
            <a:fld id="{EE39EF0C-C114-7840-80B3-1DAE10CE695E}" type="datetime1">
              <a:rPr kumimoji="1" lang="zh-CN" altLang="en-US" smtClean="0"/>
              <a:t>2026/10/12</a:t>
            </a:fld>
            <a:endParaRPr kumimoji="1" lang="zh-CN" altLang="en-US"/>
          </a:p>
        </p:txBody>
      </p:sp>
      <p:sp>
        <p:nvSpPr>
          <p:cNvPr id="8" name="页脚占位符 7">
            <a:extLst>
              <a:ext uri="{FF2B5EF4-FFF2-40B4-BE49-F238E27FC236}">
                <a16:creationId xmlns:a16="http://schemas.microsoft.com/office/drawing/2014/main" id="{0AD8E435-9FA5-34D7-D3BF-A78515D70344}"/>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9" name="灯片编号占位符 8">
            <a:extLst>
              <a:ext uri="{FF2B5EF4-FFF2-40B4-BE49-F238E27FC236}">
                <a16:creationId xmlns:a16="http://schemas.microsoft.com/office/drawing/2014/main" id="{BFC3135F-81FD-F121-0D18-EC8E7DC04FEF}"/>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889349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B9CE6F-0D34-7CCA-AF51-AFF1D93DEF70}"/>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8A1DC0FA-E057-259A-7FE0-9A017D309C62}"/>
              </a:ext>
            </a:extLst>
          </p:cNvPr>
          <p:cNvSpPr>
            <a:spLocks noGrp="1"/>
          </p:cNvSpPr>
          <p:nvPr>
            <p:ph type="dt" sz="half" idx="10"/>
          </p:nvPr>
        </p:nvSpPr>
        <p:spPr/>
        <p:txBody>
          <a:bodyPr/>
          <a:lstStyle/>
          <a:p>
            <a:fld id="{1D234C8A-0ABB-9346-A612-23806130D01E}" type="datetime1">
              <a:rPr kumimoji="1" lang="zh-CN" altLang="en-US" smtClean="0"/>
              <a:t>2026/10/12</a:t>
            </a:fld>
            <a:endParaRPr kumimoji="1" lang="zh-CN" altLang="en-US"/>
          </a:p>
        </p:txBody>
      </p:sp>
      <p:sp>
        <p:nvSpPr>
          <p:cNvPr id="4" name="页脚占位符 3">
            <a:extLst>
              <a:ext uri="{FF2B5EF4-FFF2-40B4-BE49-F238E27FC236}">
                <a16:creationId xmlns:a16="http://schemas.microsoft.com/office/drawing/2014/main" id="{49367B38-3E66-CC01-69EE-D68C19A85921}"/>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5" name="灯片编号占位符 4">
            <a:extLst>
              <a:ext uri="{FF2B5EF4-FFF2-40B4-BE49-F238E27FC236}">
                <a16:creationId xmlns:a16="http://schemas.microsoft.com/office/drawing/2014/main" id="{5701E5A5-CA05-B777-043A-3D04045F16B6}"/>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168663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26521A0-B680-9711-7D72-320BBF4FC09A}"/>
              </a:ext>
            </a:extLst>
          </p:cNvPr>
          <p:cNvSpPr>
            <a:spLocks noGrp="1"/>
          </p:cNvSpPr>
          <p:nvPr>
            <p:ph type="dt" sz="half" idx="10"/>
          </p:nvPr>
        </p:nvSpPr>
        <p:spPr/>
        <p:txBody>
          <a:bodyPr/>
          <a:lstStyle/>
          <a:p>
            <a:fld id="{8C1BE1F5-21D5-A640-806D-FF7D7D9DDF39}" type="datetime1">
              <a:rPr kumimoji="1" lang="zh-CN" altLang="en-US" smtClean="0"/>
              <a:t>2026/10/12</a:t>
            </a:fld>
            <a:endParaRPr kumimoji="1" lang="zh-CN" altLang="en-US"/>
          </a:p>
        </p:txBody>
      </p:sp>
      <p:sp>
        <p:nvSpPr>
          <p:cNvPr id="3" name="页脚占位符 2">
            <a:extLst>
              <a:ext uri="{FF2B5EF4-FFF2-40B4-BE49-F238E27FC236}">
                <a16:creationId xmlns:a16="http://schemas.microsoft.com/office/drawing/2014/main" id="{5D869DCA-3EF4-FA66-08EB-9BC57D7352BB}"/>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4" name="灯片编号占位符 3">
            <a:extLst>
              <a:ext uri="{FF2B5EF4-FFF2-40B4-BE49-F238E27FC236}">
                <a16:creationId xmlns:a16="http://schemas.microsoft.com/office/drawing/2014/main" id="{3DDC9DFC-A123-3F26-6C3E-8AA23E0BE7EF}"/>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128253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521C2B-C0B5-E2FD-6CEA-F0F6E782A61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69053B7-16D7-9F9C-75B1-CCED397A45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8A769E91-8FFC-A5C1-75F7-9F4A5DCC68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6C4CA45-1A00-D0AA-8BB5-483D026545D5}"/>
              </a:ext>
            </a:extLst>
          </p:cNvPr>
          <p:cNvSpPr>
            <a:spLocks noGrp="1"/>
          </p:cNvSpPr>
          <p:nvPr>
            <p:ph type="dt" sz="half" idx="10"/>
          </p:nvPr>
        </p:nvSpPr>
        <p:spPr/>
        <p:txBody>
          <a:bodyPr/>
          <a:lstStyle/>
          <a:p>
            <a:fld id="{96A7F32E-C34B-334B-A2A5-FCEFEDE24B48}" type="datetime1">
              <a:rPr kumimoji="1" lang="zh-CN" altLang="en-US" smtClean="0"/>
              <a:t>2026/10/12</a:t>
            </a:fld>
            <a:endParaRPr kumimoji="1" lang="zh-CN" altLang="en-US"/>
          </a:p>
        </p:txBody>
      </p:sp>
      <p:sp>
        <p:nvSpPr>
          <p:cNvPr id="6" name="页脚占位符 5">
            <a:extLst>
              <a:ext uri="{FF2B5EF4-FFF2-40B4-BE49-F238E27FC236}">
                <a16:creationId xmlns:a16="http://schemas.microsoft.com/office/drawing/2014/main" id="{8F4EC6F0-AEE6-ECFE-5059-E7E44700ECD3}"/>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7" name="灯片编号占位符 6">
            <a:extLst>
              <a:ext uri="{FF2B5EF4-FFF2-40B4-BE49-F238E27FC236}">
                <a16:creationId xmlns:a16="http://schemas.microsoft.com/office/drawing/2014/main" id="{F81B3F9E-B868-57B7-D82E-3C67A2EC610D}"/>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1420742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83F3A1-EDB5-4B5B-ACEB-AA16A76A27E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CBF24A2-94EB-45C1-FFF0-6B8C64C865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634B7BE-5FB3-4DA7-1D77-C2824E3322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C77CD65-4A95-40EE-ED90-67A7B543094F}"/>
              </a:ext>
            </a:extLst>
          </p:cNvPr>
          <p:cNvSpPr>
            <a:spLocks noGrp="1"/>
          </p:cNvSpPr>
          <p:nvPr>
            <p:ph type="dt" sz="half" idx="10"/>
          </p:nvPr>
        </p:nvSpPr>
        <p:spPr/>
        <p:txBody>
          <a:bodyPr/>
          <a:lstStyle/>
          <a:p>
            <a:fld id="{A2AF1126-60BC-B541-819D-6BDCCCCB8E82}" type="datetime1">
              <a:rPr kumimoji="1" lang="zh-CN" altLang="en-US" smtClean="0"/>
              <a:t>2026/10/12</a:t>
            </a:fld>
            <a:endParaRPr kumimoji="1" lang="zh-CN" altLang="en-US"/>
          </a:p>
        </p:txBody>
      </p:sp>
      <p:sp>
        <p:nvSpPr>
          <p:cNvPr id="6" name="页脚占位符 5">
            <a:extLst>
              <a:ext uri="{FF2B5EF4-FFF2-40B4-BE49-F238E27FC236}">
                <a16:creationId xmlns:a16="http://schemas.microsoft.com/office/drawing/2014/main" id="{39D4936D-2923-EEA8-5FD0-9CD1CC75273F}"/>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7" name="灯片编号占位符 6">
            <a:extLst>
              <a:ext uri="{FF2B5EF4-FFF2-40B4-BE49-F238E27FC236}">
                <a16:creationId xmlns:a16="http://schemas.microsoft.com/office/drawing/2014/main" id="{F0622EFA-7E60-59E2-5761-441D91E9E201}"/>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4230587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3EFDD-0946-87C8-1789-54520C9F894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56AB271-04A9-B709-3B34-1A512F28868C}"/>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E99505C-3447-4CE7-1A35-F2D4CA377D6E}"/>
              </a:ext>
            </a:extLst>
          </p:cNvPr>
          <p:cNvSpPr>
            <a:spLocks noGrp="1"/>
          </p:cNvSpPr>
          <p:nvPr>
            <p:ph type="dt" sz="half" idx="10"/>
          </p:nvPr>
        </p:nvSpPr>
        <p:spPr/>
        <p:txBody>
          <a:bodyPr/>
          <a:lstStyle/>
          <a:p>
            <a:fld id="{46A6FCFD-FFF5-B64D-82E6-4CDC6C2795C4}" type="datetime1">
              <a:rPr kumimoji="1" lang="zh-CN" altLang="en-US" smtClean="0"/>
              <a:t>2026/10/12</a:t>
            </a:fld>
            <a:endParaRPr kumimoji="1" lang="zh-CN" altLang="en-US"/>
          </a:p>
        </p:txBody>
      </p:sp>
      <p:sp>
        <p:nvSpPr>
          <p:cNvPr id="5" name="页脚占位符 4">
            <a:extLst>
              <a:ext uri="{FF2B5EF4-FFF2-40B4-BE49-F238E27FC236}">
                <a16:creationId xmlns:a16="http://schemas.microsoft.com/office/drawing/2014/main" id="{64070A12-B984-2B43-840A-C21A58D032AD}"/>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6" name="灯片编号占位符 5">
            <a:extLst>
              <a:ext uri="{FF2B5EF4-FFF2-40B4-BE49-F238E27FC236}">
                <a16:creationId xmlns:a16="http://schemas.microsoft.com/office/drawing/2014/main" id="{9EE9D1AA-3D08-528F-6D12-C0D1DB051EC3}"/>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4267028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9F1ED7-4436-46B3-7DC3-C1B707288BB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92B83C2-E229-A2F8-0660-FFA0C3098655}"/>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2D53801-36CA-A929-DED1-D08B077C8ECE}"/>
              </a:ext>
            </a:extLst>
          </p:cNvPr>
          <p:cNvSpPr>
            <a:spLocks noGrp="1"/>
          </p:cNvSpPr>
          <p:nvPr>
            <p:ph type="dt" sz="half" idx="10"/>
          </p:nvPr>
        </p:nvSpPr>
        <p:spPr/>
        <p:txBody>
          <a:bodyPr/>
          <a:lstStyle/>
          <a:p>
            <a:fld id="{1B820AED-285E-F445-BD75-6D1C6DF47B20}" type="datetime1">
              <a:rPr kumimoji="1" lang="zh-CN" altLang="en-US" smtClean="0"/>
              <a:t>2026/10/12</a:t>
            </a:fld>
            <a:endParaRPr kumimoji="1" lang="zh-CN" altLang="en-US"/>
          </a:p>
        </p:txBody>
      </p:sp>
      <p:sp>
        <p:nvSpPr>
          <p:cNvPr id="5" name="页脚占位符 4">
            <a:extLst>
              <a:ext uri="{FF2B5EF4-FFF2-40B4-BE49-F238E27FC236}">
                <a16:creationId xmlns:a16="http://schemas.microsoft.com/office/drawing/2014/main" id="{C2C3BCE7-D34D-6B0A-61A8-0898EF72C702}"/>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6" name="灯片编号占位符 5">
            <a:extLst>
              <a:ext uri="{FF2B5EF4-FFF2-40B4-BE49-F238E27FC236}">
                <a16:creationId xmlns:a16="http://schemas.microsoft.com/office/drawing/2014/main" id="{6A6C1ED7-6D07-D115-110E-F2B080164D18}"/>
              </a:ext>
            </a:extLst>
          </p:cNvPr>
          <p:cNvSpPr>
            <a:spLocks noGrp="1"/>
          </p:cNvSpPr>
          <p:nvPr>
            <p:ph type="sldNum" sz="quarter" idx="12"/>
          </p:nvPr>
        </p:nvSpPr>
        <p:spPr/>
        <p:txBody>
          <a:body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634457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A0F6443-5C44-B6F8-A97A-227A0C762E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4B624CA-CC8A-B423-3FBF-2ABD878B02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FB55676-5F05-47A0-A235-8180D7724F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EAFB95-80CB-8D4D-9E66-4CED8203E9A1}" type="datetime1">
              <a:rPr kumimoji="1" lang="zh-CN" altLang="en-US" smtClean="0"/>
              <a:t>2026/10/12</a:t>
            </a:fld>
            <a:endParaRPr kumimoji="1" lang="zh-CN" altLang="en-US"/>
          </a:p>
        </p:txBody>
      </p:sp>
      <p:sp>
        <p:nvSpPr>
          <p:cNvPr id="5" name="页脚占位符 4">
            <a:extLst>
              <a:ext uri="{FF2B5EF4-FFF2-40B4-BE49-F238E27FC236}">
                <a16:creationId xmlns:a16="http://schemas.microsoft.com/office/drawing/2014/main" id="{88CE14B7-DAD2-2724-4B6E-4FF5E8A67F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de-CH" altLang="zh-CN"/>
              <a:t>Generative AI was only used for language editing</a:t>
            </a:r>
            <a:endParaRPr kumimoji="1" lang="zh-CN" altLang="en-US"/>
          </a:p>
        </p:txBody>
      </p:sp>
      <p:sp>
        <p:nvSpPr>
          <p:cNvPr id="6" name="灯片编号占位符 5">
            <a:extLst>
              <a:ext uri="{FF2B5EF4-FFF2-40B4-BE49-F238E27FC236}">
                <a16:creationId xmlns:a16="http://schemas.microsoft.com/office/drawing/2014/main" id="{841A1790-32F7-96B7-36C6-0F513C3D2B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1D866-4F28-F04C-B500-EB8B0CD1F380}" type="slidenum">
              <a:rPr kumimoji="1" lang="zh-CN" altLang="en-US" smtClean="0"/>
              <a:t>‹#›</a:t>
            </a:fld>
            <a:endParaRPr kumimoji="1" lang="zh-CN" altLang="en-US"/>
          </a:p>
        </p:txBody>
      </p:sp>
    </p:spTree>
    <p:extLst>
      <p:ext uri="{BB962C8B-B14F-4D97-AF65-F5344CB8AC3E}">
        <p14:creationId xmlns:p14="http://schemas.microsoft.com/office/powerpoint/2010/main" val="1401966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9F14-3C68-FE74-493A-1546CF282407}"/>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427DCA9-DEF0-0F69-20DB-ACC01B56FF82}"/>
              </a:ext>
            </a:extLst>
          </p:cNvPr>
          <p:cNvSpPr txBox="1">
            <a:spLocks/>
          </p:cNvSpPr>
          <p:nvPr/>
        </p:nvSpPr>
        <p:spPr>
          <a:xfrm>
            <a:off x="348028" y="223818"/>
            <a:ext cx="6723332" cy="2427941"/>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6600" dirty="0">
                <a:latin typeface="Calibri" panose="020F0502020204030204" pitchFamily="34" charset="0"/>
                <a:ea typeface="+mj-lt"/>
                <a:cs typeface="Calibri" panose="020F0502020204030204" pitchFamily="34" charset="0"/>
              </a:rPr>
              <a:t>Week</a:t>
            </a:r>
            <a:r>
              <a:rPr lang="zh-CN" altLang="en-US" sz="6600" dirty="0">
                <a:latin typeface="Calibri" panose="020F0502020204030204" pitchFamily="34" charset="0"/>
                <a:ea typeface="+mj-lt"/>
                <a:cs typeface="Calibri" panose="020F0502020204030204" pitchFamily="34" charset="0"/>
              </a:rPr>
              <a:t> </a:t>
            </a:r>
            <a:r>
              <a:rPr lang="en-US" altLang="zh-CN" sz="6600" dirty="0">
                <a:latin typeface="Calibri" panose="020F0502020204030204" pitchFamily="34" charset="0"/>
                <a:ea typeface="+mj-lt"/>
                <a:cs typeface="Calibri" panose="020F0502020204030204" pitchFamily="34" charset="0"/>
              </a:rPr>
              <a:t>4 Milestone</a:t>
            </a:r>
            <a:endParaRPr lang="zh-CN" altLang="en-US" sz="6600" dirty="0">
              <a:latin typeface="Calibri" panose="020F0502020204030204" pitchFamily="34" charset="0"/>
              <a:ea typeface="+mj-lt"/>
              <a:cs typeface="Calibri" panose="020F0502020204030204" pitchFamily="34" charset="0"/>
            </a:endParaRPr>
          </a:p>
        </p:txBody>
      </p:sp>
      <p:sp>
        <p:nvSpPr>
          <p:cNvPr id="14" name="页脚占位符 13">
            <a:extLst>
              <a:ext uri="{FF2B5EF4-FFF2-40B4-BE49-F238E27FC236}">
                <a16:creationId xmlns:a16="http://schemas.microsoft.com/office/drawing/2014/main" id="{618CE17C-AF85-83D8-926A-FBE2F984CE2A}"/>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883808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94787-8B31-39F2-911F-DD5B607AD8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7C75FFC-FAB2-4031-901D-0F53A9348564}"/>
              </a:ext>
            </a:extLst>
          </p:cNvPr>
          <p:cNvSpPr txBox="1">
            <a:spLocks/>
          </p:cNvSpPr>
          <p:nvPr/>
        </p:nvSpPr>
        <p:spPr>
          <a:xfrm>
            <a:off x="406158" y="887184"/>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sz="2800" dirty="0">
                <a:latin typeface="Calibri" panose="020F0502020204030204" pitchFamily="34" charset="0"/>
                <a:ea typeface="+mj-lt"/>
                <a:cs typeface="Calibri" panose="020F0502020204030204" pitchFamily="34" charset="0"/>
              </a:rPr>
              <a:t>Motivation</a:t>
            </a:r>
            <a:endParaRPr lang="zh-CN" altLang="en-US" sz="4000" dirty="0">
              <a:latin typeface="Calibri" panose="020F0502020204030204" pitchFamily="34" charset="0"/>
              <a:ea typeface="+mj-lt"/>
              <a:cs typeface="Calibri" panose="020F0502020204030204" pitchFamily="34" charset="0"/>
            </a:endParaRPr>
          </a:p>
        </p:txBody>
      </p:sp>
      <p:sp>
        <p:nvSpPr>
          <p:cNvPr id="8" name="Title 1">
            <a:extLst>
              <a:ext uri="{FF2B5EF4-FFF2-40B4-BE49-F238E27FC236}">
                <a16:creationId xmlns:a16="http://schemas.microsoft.com/office/drawing/2014/main" id="{765DE097-B021-E12C-0B77-6C86A61E3BDD}"/>
              </a:ext>
            </a:extLst>
          </p:cNvPr>
          <p:cNvSpPr txBox="1">
            <a:spLocks/>
          </p:cNvSpPr>
          <p:nvPr/>
        </p:nvSpPr>
        <p:spPr>
          <a:xfrm>
            <a:off x="406158" y="3906582"/>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2800" dirty="0">
                <a:latin typeface="Calibri" panose="020F0502020204030204" pitchFamily="34" charset="0"/>
                <a:ea typeface="+mj-lt"/>
                <a:cs typeface="Calibri" panose="020F0502020204030204" pitchFamily="34" charset="0"/>
              </a:rPr>
              <a:t>Research Question</a:t>
            </a:r>
            <a:endParaRPr lang="zh-CN" altLang="en-US" sz="2800" dirty="0">
              <a:latin typeface="Calibri" panose="020F0502020204030204" pitchFamily="34" charset="0"/>
              <a:ea typeface="+mj-lt"/>
              <a:cs typeface="Calibri" panose="020F0502020204030204" pitchFamily="34" charset="0"/>
            </a:endParaRPr>
          </a:p>
        </p:txBody>
      </p:sp>
      <p:sp>
        <p:nvSpPr>
          <p:cNvPr id="10" name="文本框 9">
            <a:extLst>
              <a:ext uri="{FF2B5EF4-FFF2-40B4-BE49-F238E27FC236}">
                <a16:creationId xmlns:a16="http://schemas.microsoft.com/office/drawing/2014/main" id="{9D4DF07E-6D1A-F3E8-EC0D-374CBB6FABCA}"/>
              </a:ext>
            </a:extLst>
          </p:cNvPr>
          <p:cNvSpPr txBox="1"/>
          <p:nvPr/>
        </p:nvSpPr>
        <p:spPr>
          <a:xfrm>
            <a:off x="615265" y="1297972"/>
            <a:ext cx="10961470" cy="2276072"/>
          </a:xfrm>
          <a:prstGeom prst="rect">
            <a:avLst/>
          </a:prstGeom>
          <a:noFill/>
        </p:spPr>
        <p:txBody>
          <a:bodyPr wrap="square" rtlCol="0">
            <a:spAutoFit/>
          </a:bodyPr>
          <a:lstStyle/>
          <a:p>
            <a:pPr>
              <a:lnSpc>
                <a:spcPct val="120000"/>
              </a:lnSpc>
            </a:pPr>
            <a:r>
              <a:rPr lang="zh-CN" altLang="zh-CN" sz="2000" dirty="0">
                <a:latin typeface="Times New Roman" panose="02020603050405020304" pitchFamily="18" charset="0"/>
                <a:cs typeface="Times New Roman" panose="02020603050405020304" pitchFamily="18" charset="0"/>
              </a:rPr>
              <a:t>With global warming, extreme heat events are becoming more common.</a:t>
            </a:r>
          </a:p>
          <a:p>
            <a:pPr>
              <a:lnSpc>
                <a:spcPct val="120000"/>
              </a:lnSpc>
            </a:pPr>
            <a:r>
              <a:rPr lang="zh-CN" altLang="zh-CN" sz="2000" dirty="0">
                <a:latin typeface="Times New Roman" panose="02020603050405020304" pitchFamily="18" charset="0"/>
                <a:cs typeface="Times New Roman" panose="02020603050405020304" pitchFamily="18" charset="0"/>
              </a:rPr>
              <a:t>Beijing has developed and expanded rapidly over the past 30 years. As a large and densely populated city, it is also strongly affected by the urban heat island effect.</a:t>
            </a:r>
          </a:p>
          <a:p>
            <a:pPr>
              <a:lnSpc>
                <a:spcPct val="120000"/>
              </a:lnSpc>
            </a:pPr>
            <a:r>
              <a:rPr lang="zh-CN" altLang="zh-CN" sz="2000" dirty="0">
                <a:latin typeface="Times New Roman" panose="02020603050405020304" pitchFamily="18" charset="0"/>
                <a:cs typeface="Times New Roman" panose="02020603050405020304" pitchFamily="18" charset="0"/>
              </a:rPr>
              <a:t>In recent years, extreme summer heat has affected people's daily lives and health. By studying how urban heat changes over time and space, this project may provide useful information for understanding and reducing heat risks.</a:t>
            </a:r>
          </a:p>
        </p:txBody>
      </p:sp>
      <p:sp>
        <p:nvSpPr>
          <p:cNvPr id="11" name="文本框 10">
            <a:extLst>
              <a:ext uri="{FF2B5EF4-FFF2-40B4-BE49-F238E27FC236}">
                <a16:creationId xmlns:a16="http://schemas.microsoft.com/office/drawing/2014/main" id="{1B4EF339-2205-D059-CFBD-F84735C45613}"/>
              </a:ext>
            </a:extLst>
          </p:cNvPr>
          <p:cNvSpPr txBox="1"/>
          <p:nvPr/>
        </p:nvSpPr>
        <p:spPr>
          <a:xfrm>
            <a:off x="615265" y="4370319"/>
            <a:ext cx="10961470" cy="798745"/>
          </a:xfrm>
          <a:prstGeom prst="rect">
            <a:avLst/>
          </a:prstGeom>
          <a:noFill/>
        </p:spPr>
        <p:txBody>
          <a:bodyPr wrap="square" rtlCol="0">
            <a:spAutoFit/>
          </a:bodyPr>
          <a:lstStyle/>
          <a:p>
            <a:pPr>
              <a:lnSpc>
                <a:spcPct val="120000"/>
              </a:lnSpc>
            </a:pPr>
            <a:r>
              <a:rPr lang="zh-CN" altLang="zh-CN" sz="2000" dirty="0">
                <a:latin typeface="Times New Roman" panose="02020603050405020304" pitchFamily="18" charset="0"/>
                <a:cs typeface="Times New Roman" panose="02020603050405020304" pitchFamily="18" charset="0"/>
              </a:rPr>
              <a:t>How have urban heat hotspots in Beijing changed over space and time during the past 30 years, and how are these changes related to land-cover change?</a:t>
            </a:r>
            <a:endParaRPr lang="en-US" altLang="zh-CN" sz="2000" dirty="0">
              <a:latin typeface="Times New Roman" panose="02020603050405020304" pitchFamily="18" charset="0"/>
              <a:cs typeface="Times New Roman" panose="02020603050405020304" pitchFamily="18" charset="0"/>
            </a:endParaRPr>
          </a:p>
        </p:txBody>
      </p:sp>
      <p:sp>
        <p:nvSpPr>
          <p:cNvPr id="14" name="页脚占位符 13">
            <a:extLst>
              <a:ext uri="{FF2B5EF4-FFF2-40B4-BE49-F238E27FC236}">
                <a16:creationId xmlns:a16="http://schemas.microsoft.com/office/drawing/2014/main" id="{67B4B249-FF39-0836-BF53-D0DFE9DFC93E}"/>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454130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74EF-86A2-C5F3-5E7A-D081E92AC6C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8178DC0C-FA7F-F745-653C-36A23C9DB5A2}"/>
              </a:ext>
            </a:extLst>
          </p:cNvPr>
          <p:cNvSpPr txBox="1"/>
          <p:nvPr/>
        </p:nvSpPr>
        <p:spPr>
          <a:xfrm>
            <a:off x="615265" y="431496"/>
            <a:ext cx="10961470" cy="5230727"/>
          </a:xfrm>
          <a:prstGeom prst="rect">
            <a:avLst/>
          </a:prstGeom>
          <a:noFill/>
        </p:spPr>
        <p:txBody>
          <a:bodyPr wrap="square" rtlCol="0">
            <a:spAutoFit/>
          </a:bodyPr>
          <a:lstStyle/>
          <a:p>
            <a:pPr>
              <a:lnSpc>
                <a:spcPct val="120000"/>
              </a:lnSpc>
            </a:pPr>
            <a:r>
              <a:rPr lang="zh-CN" altLang="zh-CN" sz="2000" b="1" dirty="0">
                <a:latin typeface="Times New Roman" panose="02020603050405020304" pitchFamily="18" charset="0"/>
                <a:cs typeface="Times New Roman" panose="02020603050405020304" pitchFamily="18" charset="0"/>
              </a:rPr>
              <a:t>Data</a:t>
            </a:r>
            <a:endParaRPr lang="zh-CN"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I plan to use Landsat data from 1995 to 2025, mainly from summer (June–August).</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I will use the data to study changes in Land Surface Temperature (LST).</a:t>
            </a:r>
            <a:endParaRPr lang="en-US"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kumimoji="1" lang="en-US" altLang="zh-CN" sz="2000" dirty="0">
                <a:latin typeface="Times New Roman" panose="02020603050405020304" pitchFamily="18" charset="0"/>
                <a:cs typeface="Times New Roman" panose="02020603050405020304" pitchFamily="18" charset="0"/>
              </a:rPr>
              <a:t>I will use Copernicus land cover dataset to study the land cover change</a:t>
            </a:r>
            <a:r>
              <a:rPr kumimoji="1" lang="zh-CN" altLang="en-US" sz="2000" dirty="0">
                <a:latin typeface="Times New Roman" panose="02020603050405020304" pitchFamily="18" charset="0"/>
                <a:cs typeface="Times New Roman" panose="02020603050405020304" pitchFamily="18" charset="0"/>
              </a:rPr>
              <a:t> </a:t>
            </a:r>
            <a:r>
              <a:rPr kumimoji="1" lang="en-US" altLang="zh-CN" sz="2000" dirty="0">
                <a:latin typeface="Times New Roman" panose="02020603050405020304" pitchFamily="18" charset="0"/>
                <a:cs typeface="Times New Roman" panose="02020603050405020304" pitchFamily="18" charset="0"/>
              </a:rPr>
              <a:t>from 1995-2020.</a:t>
            </a:r>
            <a:endParaRPr lang="zh-CN" altLang="zh-CN" sz="2000" dirty="0">
              <a:latin typeface="Times New Roman" panose="02020603050405020304" pitchFamily="18" charset="0"/>
              <a:cs typeface="Times New Roman" panose="02020603050405020304" pitchFamily="18" charset="0"/>
            </a:endParaRPr>
          </a:p>
          <a:p>
            <a:pPr>
              <a:lnSpc>
                <a:spcPct val="120000"/>
              </a:lnSpc>
            </a:pPr>
            <a:endParaRPr lang="en-US" altLang="zh-CN" sz="2000" b="1" dirty="0">
              <a:latin typeface="Times New Roman" panose="02020603050405020304" pitchFamily="18" charset="0"/>
              <a:cs typeface="Times New Roman" panose="02020603050405020304" pitchFamily="18" charset="0"/>
            </a:endParaRPr>
          </a:p>
          <a:p>
            <a:pPr>
              <a:lnSpc>
                <a:spcPct val="120000"/>
              </a:lnSpc>
            </a:pPr>
            <a:r>
              <a:rPr lang="en-US" altLang="zh-CN" sz="2000" b="1" dirty="0">
                <a:latin typeface="Times New Roman" panose="02020603050405020304" pitchFamily="18" charset="0"/>
                <a:cs typeface="Times New Roman" panose="02020603050405020304" pitchFamily="18" charset="0"/>
              </a:rPr>
              <a:t>Methods </a:t>
            </a:r>
          </a:p>
          <a:p>
            <a:pPr>
              <a:lnSpc>
                <a:spcPct val="120000"/>
              </a:lnSpc>
            </a:pPr>
            <a:r>
              <a:rPr lang="zh-CN" altLang="zh-CN" sz="2000" b="1" dirty="0">
                <a:latin typeface="Times New Roman" panose="02020603050405020304" pitchFamily="18" charset="0"/>
                <a:cs typeface="Times New Roman" panose="02020603050405020304" pitchFamily="18" charset="0"/>
              </a:rPr>
              <a:t>Hotspot Detection</a:t>
            </a:r>
            <a:r>
              <a:rPr lang="zh-CN" altLang="en-US" sz="2000" b="1" dirty="0">
                <a:latin typeface="Times New Roman" panose="02020603050405020304" pitchFamily="18" charset="0"/>
                <a:cs typeface="Times New Roman" panose="02020603050405020304" pitchFamily="18" charset="0"/>
              </a:rPr>
              <a:t>：</a:t>
            </a:r>
            <a:endParaRPr lang="zh-CN" altLang="zh-CN" sz="2000" b="1"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Calculate the summer median LST for each year from 1995 to 2025.</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Use the pooled 95th percentile (P95) across the entire study period as a consistent threshold to identify hotspot candidate pixels.</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Apply 8-neighbor connectivity to group adjacent candidate pixels into hotspot clusters.</a:t>
            </a:r>
          </a:p>
          <a:p>
            <a:pPr>
              <a:lnSpc>
                <a:spcPct val="120000"/>
              </a:lnSpc>
            </a:pPr>
            <a:endParaRPr lang="en-US" altLang="zh-CN" sz="2000" b="1" dirty="0">
              <a:latin typeface="Times New Roman" panose="02020603050405020304" pitchFamily="18" charset="0"/>
              <a:cs typeface="Times New Roman" panose="02020603050405020304" pitchFamily="18" charset="0"/>
            </a:endParaRPr>
          </a:p>
          <a:p>
            <a:pPr>
              <a:lnSpc>
                <a:spcPct val="120000"/>
              </a:lnSpc>
            </a:pPr>
            <a:r>
              <a:rPr lang="zh-CN" altLang="zh-CN" sz="2000" b="1" dirty="0">
                <a:latin typeface="Times New Roman" panose="02020603050405020304" pitchFamily="18" charset="0"/>
                <a:cs typeface="Times New Roman" panose="02020603050405020304" pitchFamily="18" charset="0"/>
              </a:rPr>
              <a:t>Expected Output</a:t>
            </a:r>
            <a:endParaRPr lang="zh-CN"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An animation showing the annual changes in hotspot distribution in Beijing from 1995 to 2025</a:t>
            </a:r>
          </a:p>
        </p:txBody>
      </p:sp>
      <p:sp>
        <p:nvSpPr>
          <p:cNvPr id="11" name="页脚占位符 10">
            <a:extLst>
              <a:ext uri="{FF2B5EF4-FFF2-40B4-BE49-F238E27FC236}">
                <a16:creationId xmlns:a16="http://schemas.microsoft.com/office/drawing/2014/main" id="{0CFD5519-BD4A-816F-13E0-04D3A91585A0}"/>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96430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6058-14CB-C21F-569C-A13CBBFB086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463B70-C597-3202-F7AE-A60AEA8DBA81}"/>
              </a:ext>
            </a:extLst>
          </p:cNvPr>
          <p:cNvSpPr txBox="1">
            <a:spLocks/>
          </p:cNvSpPr>
          <p:nvPr/>
        </p:nvSpPr>
        <p:spPr>
          <a:xfrm>
            <a:off x="384893" y="227965"/>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4000" dirty="0">
                <a:latin typeface="Calibri" panose="020F0502020204030204" pitchFamily="34" charset="0"/>
                <a:ea typeface="+mj-lt"/>
                <a:cs typeface="Calibri" panose="020F0502020204030204" pitchFamily="34" charset="0"/>
              </a:rPr>
              <a:t>Evidence(1)</a:t>
            </a:r>
            <a:endParaRPr lang="zh-CN" altLang="en-US" sz="4000" dirty="0">
              <a:latin typeface="Calibri" panose="020F0502020204030204" pitchFamily="34" charset="0"/>
              <a:ea typeface="+mj-lt"/>
              <a:cs typeface="Calibri" panose="020F0502020204030204" pitchFamily="34" charset="0"/>
            </a:endParaRPr>
          </a:p>
        </p:txBody>
      </p:sp>
      <p:sp>
        <p:nvSpPr>
          <p:cNvPr id="14" name="页脚占位符 13">
            <a:extLst>
              <a:ext uri="{FF2B5EF4-FFF2-40B4-BE49-F238E27FC236}">
                <a16:creationId xmlns:a16="http://schemas.microsoft.com/office/drawing/2014/main" id="{1D8C12C2-75A6-FC59-3712-40D890E19130}"/>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4" name="文本框 3">
            <a:extLst>
              <a:ext uri="{FF2B5EF4-FFF2-40B4-BE49-F238E27FC236}">
                <a16:creationId xmlns:a16="http://schemas.microsoft.com/office/drawing/2014/main" id="{DF4CA072-43B1-9624-32F1-4C4EC98A5DAE}"/>
              </a:ext>
            </a:extLst>
          </p:cNvPr>
          <p:cNvSpPr txBox="1"/>
          <p:nvPr/>
        </p:nvSpPr>
        <p:spPr>
          <a:xfrm>
            <a:off x="4452974" y="4943010"/>
            <a:ext cx="2737535" cy="429413"/>
          </a:xfrm>
          <a:prstGeom prst="rect">
            <a:avLst/>
          </a:prstGeom>
          <a:noFill/>
        </p:spPr>
        <p:txBody>
          <a:bodyPr wrap="square" rtlCol="0">
            <a:spAutoFit/>
          </a:bodyPr>
          <a:lstStyle/>
          <a:p>
            <a:pPr>
              <a:lnSpc>
                <a:spcPct val="120000"/>
              </a:lnSpc>
            </a:pPr>
            <a:r>
              <a:rPr lang="en-US" altLang="zh-CN" sz="2000" dirty="0">
                <a:latin typeface="Times New Roman" panose="02020603050405020304" pitchFamily="18" charset="0"/>
                <a:cs typeface="Times New Roman" panose="02020603050405020304" pitchFamily="18" charset="0"/>
              </a:rPr>
              <a:t>Access to Landsat data</a:t>
            </a:r>
          </a:p>
        </p:txBody>
      </p:sp>
      <p:pic>
        <p:nvPicPr>
          <p:cNvPr id="6" name="图片 5">
            <a:extLst>
              <a:ext uri="{FF2B5EF4-FFF2-40B4-BE49-F238E27FC236}">
                <a16:creationId xmlns:a16="http://schemas.microsoft.com/office/drawing/2014/main" id="{F4BF9C89-120A-743A-EC20-2064124E5971}"/>
              </a:ext>
            </a:extLst>
          </p:cNvPr>
          <p:cNvPicPr>
            <a:picLocks noChangeAspect="1"/>
          </p:cNvPicPr>
          <p:nvPr/>
        </p:nvPicPr>
        <p:blipFill>
          <a:blip r:embed="rId2"/>
          <a:stretch>
            <a:fillRect/>
          </a:stretch>
        </p:blipFill>
        <p:spPr>
          <a:xfrm>
            <a:off x="1736973" y="1422091"/>
            <a:ext cx="7772400" cy="3395819"/>
          </a:xfrm>
          <a:prstGeom prst="rect">
            <a:avLst/>
          </a:prstGeom>
        </p:spPr>
      </p:pic>
    </p:spTree>
    <p:extLst>
      <p:ext uri="{BB962C8B-B14F-4D97-AF65-F5344CB8AC3E}">
        <p14:creationId xmlns:p14="http://schemas.microsoft.com/office/powerpoint/2010/main" val="32804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E379D-7C88-F88C-919B-55DB79FAE75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F4A8A2D-79CE-015A-5508-B33BBA267371}"/>
              </a:ext>
            </a:extLst>
          </p:cNvPr>
          <p:cNvSpPr txBox="1">
            <a:spLocks/>
          </p:cNvSpPr>
          <p:nvPr/>
        </p:nvSpPr>
        <p:spPr>
          <a:xfrm>
            <a:off x="384893" y="227965"/>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4000" dirty="0">
                <a:latin typeface="Calibri" panose="020F0502020204030204" pitchFamily="34" charset="0"/>
                <a:ea typeface="+mj-lt"/>
                <a:cs typeface="Calibri" panose="020F0502020204030204" pitchFamily="34" charset="0"/>
              </a:rPr>
              <a:t>Evidence(2)</a:t>
            </a:r>
            <a:endParaRPr lang="zh-CN" altLang="en-US" sz="4000" dirty="0">
              <a:latin typeface="Calibri" panose="020F0502020204030204" pitchFamily="34" charset="0"/>
              <a:ea typeface="+mj-lt"/>
              <a:cs typeface="Calibri" panose="020F0502020204030204" pitchFamily="34" charset="0"/>
            </a:endParaRPr>
          </a:p>
        </p:txBody>
      </p:sp>
      <p:sp>
        <p:nvSpPr>
          <p:cNvPr id="14" name="页脚占位符 13">
            <a:extLst>
              <a:ext uri="{FF2B5EF4-FFF2-40B4-BE49-F238E27FC236}">
                <a16:creationId xmlns:a16="http://schemas.microsoft.com/office/drawing/2014/main" id="{9A747EE7-D301-C072-70F2-B71C6BCF3C16}"/>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pic>
        <p:nvPicPr>
          <p:cNvPr id="3" name="图片 2">
            <a:extLst>
              <a:ext uri="{FF2B5EF4-FFF2-40B4-BE49-F238E27FC236}">
                <a16:creationId xmlns:a16="http://schemas.microsoft.com/office/drawing/2014/main" id="{84D7A3AC-2CB1-B4B9-5923-79C27204B763}"/>
              </a:ext>
            </a:extLst>
          </p:cNvPr>
          <p:cNvPicPr>
            <a:picLocks noChangeAspect="1"/>
          </p:cNvPicPr>
          <p:nvPr/>
        </p:nvPicPr>
        <p:blipFill>
          <a:blip r:embed="rId2"/>
          <a:stretch>
            <a:fillRect/>
          </a:stretch>
        </p:blipFill>
        <p:spPr>
          <a:xfrm>
            <a:off x="1745993" y="1224367"/>
            <a:ext cx="7772400" cy="3437792"/>
          </a:xfrm>
          <a:prstGeom prst="rect">
            <a:avLst/>
          </a:prstGeom>
        </p:spPr>
      </p:pic>
      <p:sp>
        <p:nvSpPr>
          <p:cNvPr id="4" name="文本框 3">
            <a:extLst>
              <a:ext uri="{FF2B5EF4-FFF2-40B4-BE49-F238E27FC236}">
                <a16:creationId xmlns:a16="http://schemas.microsoft.com/office/drawing/2014/main" id="{619621E1-B73E-7F39-5D5B-59E1BA7DE43A}"/>
              </a:ext>
            </a:extLst>
          </p:cNvPr>
          <p:cNvSpPr txBox="1"/>
          <p:nvPr/>
        </p:nvSpPr>
        <p:spPr>
          <a:xfrm>
            <a:off x="4382802" y="4753623"/>
            <a:ext cx="3426396" cy="429413"/>
          </a:xfrm>
          <a:prstGeom prst="rect">
            <a:avLst/>
          </a:prstGeom>
          <a:noFill/>
        </p:spPr>
        <p:txBody>
          <a:bodyPr wrap="square" rtlCol="0">
            <a:spAutoFit/>
          </a:bodyPr>
          <a:lstStyle/>
          <a:p>
            <a:pPr>
              <a:lnSpc>
                <a:spcPct val="120000"/>
              </a:lnSpc>
            </a:pPr>
            <a:r>
              <a:rPr lang="en-US" altLang="zh-CN" sz="2000" dirty="0">
                <a:latin typeface="Times New Roman" panose="02020603050405020304" pitchFamily="18" charset="0"/>
                <a:cs typeface="Times New Roman" panose="02020603050405020304" pitchFamily="18" charset="0"/>
              </a:rPr>
              <a:t>Access to land-cover data</a:t>
            </a:r>
          </a:p>
        </p:txBody>
      </p:sp>
    </p:spTree>
    <p:extLst>
      <p:ext uri="{BB962C8B-B14F-4D97-AF65-F5344CB8AC3E}">
        <p14:creationId xmlns:p14="http://schemas.microsoft.com/office/powerpoint/2010/main" val="370641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077E8-ABD5-028D-8414-647DF9B00F2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FD76C5B-97FE-0410-571C-2E49CACE083D}"/>
              </a:ext>
            </a:extLst>
          </p:cNvPr>
          <p:cNvSpPr txBox="1">
            <a:spLocks/>
          </p:cNvSpPr>
          <p:nvPr/>
        </p:nvSpPr>
        <p:spPr>
          <a:xfrm>
            <a:off x="384893" y="227965"/>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4000" dirty="0">
                <a:latin typeface="Calibri" panose="020F0502020204030204" pitchFamily="34" charset="0"/>
                <a:ea typeface="+mj-lt"/>
                <a:cs typeface="Calibri" panose="020F0502020204030204" pitchFamily="34" charset="0"/>
              </a:rPr>
              <a:t>Evidence(3)</a:t>
            </a:r>
            <a:endParaRPr lang="zh-CN" altLang="en-US" sz="4000" dirty="0">
              <a:latin typeface="Calibri" panose="020F0502020204030204" pitchFamily="34" charset="0"/>
              <a:ea typeface="+mj-lt"/>
              <a:cs typeface="Calibri" panose="020F0502020204030204" pitchFamily="34" charset="0"/>
            </a:endParaRPr>
          </a:p>
        </p:txBody>
      </p:sp>
      <p:sp>
        <p:nvSpPr>
          <p:cNvPr id="14" name="页脚占位符 13">
            <a:extLst>
              <a:ext uri="{FF2B5EF4-FFF2-40B4-BE49-F238E27FC236}">
                <a16:creationId xmlns:a16="http://schemas.microsoft.com/office/drawing/2014/main" id="{F2271B15-F768-B0C6-D058-EB2399461E6E}"/>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
        <p:nvSpPr>
          <p:cNvPr id="4" name="文本框 3">
            <a:extLst>
              <a:ext uri="{FF2B5EF4-FFF2-40B4-BE49-F238E27FC236}">
                <a16:creationId xmlns:a16="http://schemas.microsoft.com/office/drawing/2014/main" id="{6C1CDD76-14DB-77BB-DC75-8C675E2ED900}"/>
              </a:ext>
            </a:extLst>
          </p:cNvPr>
          <p:cNvSpPr txBox="1"/>
          <p:nvPr/>
        </p:nvSpPr>
        <p:spPr>
          <a:xfrm>
            <a:off x="3197070" y="5219306"/>
            <a:ext cx="5707223" cy="429413"/>
          </a:xfrm>
          <a:prstGeom prst="rect">
            <a:avLst/>
          </a:prstGeom>
          <a:noFill/>
        </p:spPr>
        <p:txBody>
          <a:bodyPr wrap="square" rtlCol="0">
            <a:spAutoFit/>
          </a:bodyPr>
          <a:lstStyle/>
          <a:p>
            <a:pPr>
              <a:lnSpc>
                <a:spcPct val="120000"/>
              </a:lnSpc>
            </a:pPr>
            <a:r>
              <a:rPr lang="en-US" altLang="zh-CN" sz="2000" dirty="0">
                <a:latin typeface="Times New Roman" panose="02020603050405020304" pitchFamily="18" charset="0"/>
                <a:cs typeface="Times New Roman" panose="02020603050405020304" pitchFamily="18" charset="0"/>
              </a:rPr>
              <a:t>Sample workflow for</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summer median LST in 2025</a:t>
            </a:r>
          </a:p>
        </p:txBody>
      </p:sp>
      <p:pic>
        <p:nvPicPr>
          <p:cNvPr id="6" name="图片 5">
            <a:extLst>
              <a:ext uri="{FF2B5EF4-FFF2-40B4-BE49-F238E27FC236}">
                <a16:creationId xmlns:a16="http://schemas.microsoft.com/office/drawing/2014/main" id="{781F690C-882A-F930-BFCC-879C94F15BB6}"/>
              </a:ext>
            </a:extLst>
          </p:cNvPr>
          <p:cNvPicPr>
            <a:picLocks noChangeAspect="1"/>
          </p:cNvPicPr>
          <p:nvPr/>
        </p:nvPicPr>
        <p:blipFill>
          <a:blip r:embed="rId2"/>
          <a:stretch>
            <a:fillRect/>
          </a:stretch>
        </p:blipFill>
        <p:spPr>
          <a:xfrm>
            <a:off x="3516155" y="1022334"/>
            <a:ext cx="5388138" cy="4181663"/>
          </a:xfrm>
          <a:prstGeom prst="rect">
            <a:avLst/>
          </a:prstGeom>
        </p:spPr>
      </p:pic>
    </p:spTree>
    <p:extLst>
      <p:ext uri="{BB962C8B-B14F-4D97-AF65-F5344CB8AC3E}">
        <p14:creationId xmlns:p14="http://schemas.microsoft.com/office/powerpoint/2010/main" val="153820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B2532-BBF4-ED20-E991-E0D28FB4DE0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2561E37-5391-F612-7ACD-FE2D07EB30D2}"/>
              </a:ext>
            </a:extLst>
          </p:cNvPr>
          <p:cNvSpPr txBox="1">
            <a:spLocks/>
          </p:cNvSpPr>
          <p:nvPr/>
        </p:nvSpPr>
        <p:spPr>
          <a:xfrm>
            <a:off x="384893" y="227965"/>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4000" dirty="0">
                <a:latin typeface="Calibri" panose="020F0502020204030204" pitchFamily="34" charset="0"/>
                <a:ea typeface="+mj-lt"/>
                <a:cs typeface="Calibri" panose="020F0502020204030204" pitchFamily="34" charset="0"/>
              </a:rPr>
              <a:t>Method Status</a:t>
            </a:r>
            <a:endParaRPr lang="zh-CN" altLang="en-US" sz="4000" dirty="0">
              <a:latin typeface="Calibri" panose="020F0502020204030204" pitchFamily="34" charset="0"/>
              <a:ea typeface="+mj-lt"/>
              <a:cs typeface="Calibri" panose="020F0502020204030204" pitchFamily="34" charset="0"/>
            </a:endParaRPr>
          </a:p>
        </p:txBody>
      </p:sp>
      <p:sp>
        <p:nvSpPr>
          <p:cNvPr id="10" name="文本框 9">
            <a:extLst>
              <a:ext uri="{FF2B5EF4-FFF2-40B4-BE49-F238E27FC236}">
                <a16:creationId xmlns:a16="http://schemas.microsoft.com/office/drawing/2014/main" id="{9C102953-9D5E-301F-DA57-17216AC4AE12}"/>
              </a:ext>
            </a:extLst>
          </p:cNvPr>
          <p:cNvSpPr txBox="1"/>
          <p:nvPr/>
        </p:nvSpPr>
        <p:spPr>
          <a:xfrm>
            <a:off x="615265" y="1297972"/>
            <a:ext cx="10961470" cy="4122732"/>
          </a:xfrm>
          <a:prstGeom prst="rect">
            <a:avLst/>
          </a:prstGeom>
          <a:noFill/>
        </p:spPr>
        <p:txBody>
          <a:bodyPr wrap="square" rtlCol="0">
            <a:spAutoFit/>
          </a:bodyPr>
          <a:lstStyle/>
          <a:p>
            <a:pPr>
              <a:lnSpc>
                <a:spcPct val="120000"/>
              </a:lnSpc>
            </a:pPr>
            <a:r>
              <a:rPr lang="en-US" sz="2000" b="1" noProof="1">
                <a:latin typeface="Times New Roman" panose="02020603050405020304" pitchFamily="18" charset="0"/>
                <a:cs typeface="Times New Roman" panose="02020603050405020304" pitchFamily="18" charset="0"/>
              </a:rPr>
              <a:t>1. Method Candidates + Why They Fit</a:t>
            </a:r>
          </a:p>
          <a:p>
            <a:pPr marL="342900" indent="-342900">
              <a:lnSpc>
                <a:spcPct val="120000"/>
              </a:lnSpc>
              <a:buFont typeface="Arial" panose="020B0604020202020204" pitchFamily="34" charset="0"/>
              <a:buChar char="•"/>
            </a:pPr>
            <a:r>
              <a:rPr lang="en-US" sz="2000" b="1" noProof="1">
                <a:latin typeface="Times New Roman" panose="02020603050405020304" pitchFamily="18" charset="0"/>
                <a:cs typeface="Times New Roman" panose="02020603050405020304" pitchFamily="18" charset="0"/>
              </a:rPr>
              <a:t>Hotspot detection: </a:t>
            </a:r>
            <a:r>
              <a:rPr lang="en-US" sz="2000" noProof="1">
                <a:latin typeface="Times New Roman" panose="02020603050405020304" pitchFamily="18" charset="0"/>
                <a:cs typeface="Times New Roman" panose="02020603050405020304" pitchFamily="18" charset="0"/>
              </a:rPr>
              <a:t>Calculate annual summer median LST (1995–2025), using a pooled P95 threshold and 8-neighbor connectivity to identify hotspot clusters. (</a:t>
            </a:r>
            <a:r>
              <a:rPr lang="en-US" sz="2000" b="1" noProof="1">
                <a:latin typeface="Times New Roman" panose="02020603050405020304" pitchFamily="18" charset="0"/>
                <a:cs typeface="Times New Roman" panose="02020603050405020304" pitchFamily="18" charset="0"/>
              </a:rPr>
              <a:t>Patch size </a:t>
            </a:r>
            <a:r>
              <a:rPr lang="en-US" sz="2000" noProof="1">
                <a:latin typeface="Times New Roman" panose="02020603050405020304" pitchFamily="18" charset="0"/>
                <a:cs typeface="Times New Roman" panose="02020603050405020304" pitchFamily="18" charset="0"/>
              </a:rPr>
              <a:t>has not decided yet)</a:t>
            </a:r>
          </a:p>
          <a:p>
            <a:pPr marL="342900" indent="-342900">
              <a:lnSpc>
                <a:spcPct val="120000"/>
              </a:lnSpc>
              <a:buFont typeface="Arial" panose="020B0604020202020204" pitchFamily="34" charset="0"/>
              <a:buChar char="•"/>
            </a:pPr>
            <a:r>
              <a:rPr lang="en-US" sz="2000" b="1" noProof="1">
                <a:latin typeface="Times New Roman" panose="02020603050405020304" pitchFamily="18" charset="0"/>
                <a:cs typeface="Times New Roman" panose="02020603050405020304" pitchFamily="18" charset="0"/>
              </a:rPr>
              <a:t>Why: </a:t>
            </a:r>
            <a:r>
              <a:rPr lang="en-US" sz="2000" noProof="1">
                <a:latin typeface="Times New Roman" panose="02020603050405020304" pitchFamily="18" charset="0"/>
                <a:cs typeface="Times New Roman" panose="02020603050405020304" pitchFamily="18" charset="0"/>
              </a:rPr>
              <a:t>A consistent threshold allows comparison of hotspot distribution, size, and persistence over time.</a:t>
            </a:r>
          </a:p>
          <a:p>
            <a:pPr marL="342900" indent="-342900">
              <a:lnSpc>
                <a:spcPct val="120000"/>
              </a:lnSpc>
              <a:buFont typeface="Arial" panose="020B0604020202020204" pitchFamily="34" charset="0"/>
              <a:buChar char="•"/>
            </a:pPr>
            <a:r>
              <a:rPr lang="en-US" sz="2000" b="1" noProof="1">
                <a:latin typeface="Times New Roman" panose="02020603050405020304" pitchFamily="18" charset="0"/>
                <a:cs typeface="Times New Roman" panose="02020603050405020304" pitchFamily="18" charset="0"/>
              </a:rPr>
              <a:t>Land-cover analysis: </a:t>
            </a:r>
            <a:r>
              <a:rPr lang="en-US" sz="2000" noProof="1">
                <a:latin typeface="Times New Roman" panose="02020603050405020304" pitchFamily="18" charset="0"/>
                <a:cs typeface="Times New Roman" panose="02020603050405020304" pitchFamily="18" charset="0"/>
              </a:rPr>
              <a:t>Compare hotspot patterns with land-cover types and transitions at five-year intervals.</a:t>
            </a:r>
          </a:p>
          <a:p>
            <a:pPr>
              <a:lnSpc>
                <a:spcPct val="120000"/>
              </a:lnSpc>
            </a:pPr>
            <a:endParaRPr lang="en-US" sz="2000" noProof="1">
              <a:latin typeface="Times New Roman" panose="02020603050405020304" pitchFamily="18" charset="0"/>
              <a:cs typeface="Times New Roman" panose="02020603050405020304" pitchFamily="18" charset="0"/>
            </a:endParaRPr>
          </a:p>
          <a:p>
            <a:pPr>
              <a:lnSpc>
                <a:spcPct val="120000"/>
              </a:lnSpc>
            </a:pPr>
            <a:r>
              <a:rPr lang="en-US" sz="2000" b="1" noProof="1">
                <a:latin typeface="Times New Roman" panose="02020603050405020304" pitchFamily="18" charset="0"/>
                <a:cs typeface="Times New Roman" panose="02020603050405020304" pitchFamily="18" charset="0"/>
              </a:rPr>
              <a:t>2. Relevant Jupyter Book Sections Reviewed</a:t>
            </a:r>
          </a:p>
          <a:p>
            <a:pPr marL="342900" indent="-342900">
              <a:lnSpc>
                <a:spcPct val="120000"/>
              </a:lnSpc>
              <a:buFont typeface="Arial" panose="020B0604020202020204" pitchFamily="34" charset="0"/>
              <a:buChar char="•"/>
            </a:pPr>
            <a:r>
              <a:rPr lang="en-US" sz="2000" noProof="1">
                <a:latin typeface="Times New Roman" panose="02020603050405020304" pitchFamily="18" charset="0"/>
                <a:cs typeface="Times New Roman" panose="02020603050405020304" pitchFamily="18" charset="0"/>
              </a:rPr>
              <a:t>Data acquisition and processing.</a:t>
            </a:r>
          </a:p>
          <a:p>
            <a:pPr marL="342900" indent="-342900">
              <a:lnSpc>
                <a:spcPct val="120000"/>
              </a:lnSpc>
              <a:buFont typeface="Arial" panose="020B0604020202020204" pitchFamily="34" charset="0"/>
              <a:buChar char="•"/>
            </a:pPr>
            <a:r>
              <a:rPr lang="en-US" sz="2000" noProof="1">
                <a:latin typeface="Times New Roman" panose="02020603050405020304" pitchFamily="18" charset="0"/>
                <a:cs typeface="Times New Roman" panose="02020603050405020304" pitchFamily="18" charset="0"/>
              </a:rPr>
              <a:t>GeoAI package, including semantic segmentation and other machine learning applications.</a:t>
            </a:r>
          </a:p>
        </p:txBody>
      </p:sp>
      <p:sp>
        <p:nvSpPr>
          <p:cNvPr id="14" name="页脚占位符 13">
            <a:extLst>
              <a:ext uri="{FF2B5EF4-FFF2-40B4-BE49-F238E27FC236}">
                <a16:creationId xmlns:a16="http://schemas.microsoft.com/office/drawing/2014/main" id="{7BD2CB4A-A1D3-20D7-46C4-0554A1C233B8}"/>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3472911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FEAC-1CDF-C0AF-729A-E8AFF6916D0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5400D68-50D9-DE24-7752-36EFEE1B852B}"/>
              </a:ext>
            </a:extLst>
          </p:cNvPr>
          <p:cNvSpPr txBox="1">
            <a:spLocks/>
          </p:cNvSpPr>
          <p:nvPr/>
        </p:nvSpPr>
        <p:spPr>
          <a:xfrm>
            <a:off x="384893" y="227965"/>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4000" dirty="0">
                <a:latin typeface="Calibri" panose="020F0502020204030204" pitchFamily="34" charset="0"/>
                <a:ea typeface="+mj-lt"/>
                <a:cs typeface="Calibri" panose="020F0502020204030204" pitchFamily="34" charset="0"/>
              </a:rPr>
              <a:t>Feedback</a:t>
            </a:r>
            <a:endParaRPr lang="zh-CN" altLang="en-US" sz="4000" dirty="0">
              <a:latin typeface="Calibri" panose="020F0502020204030204" pitchFamily="34" charset="0"/>
              <a:ea typeface="+mj-lt"/>
              <a:cs typeface="Calibri" panose="020F0502020204030204" pitchFamily="34" charset="0"/>
            </a:endParaRPr>
          </a:p>
        </p:txBody>
      </p:sp>
      <p:sp>
        <p:nvSpPr>
          <p:cNvPr id="10" name="文本框 9">
            <a:extLst>
              <a:ext uri="{FF2B5EF4-FFF2-40B4-BE49-F238E27FC236}">
                <a16:creationId xmlns:a16="http://schemas.microsoft.com/office/drawing/2014/main" id="{EDB4D39B-0E1A-C9B8-7670-03D1A0B469AB}"/>
              </a:ext>
            </a:extLst>
          </p:cNvPr>
          <p:cNvSpPr txBox="1"/>
          <p:nvPr/>
        </p:nvSpPr>
        <p:spPr>
          <a:xfrm>
            <a:off x="4464252" y="1129293"/>
            <a:ext cx="6646771" cy="2057679"/>
          </a:xfrm>
          <a:prstGeom prst="rect">
            <a:avLst/>
          </a:prstGeom>
          <a:noFill/>
        </p:spPr>
        <p:txBody>
          <a:bodyPr wrap="square" rtlCol="0">
            <a:spAutoFit/>
          </a:bodyPr>
          <a:lstStyle/>
          <a:p>
            <a:pPr>
              <a:lnSpc>
                <a:spcPct val="120000"/>
              </a:lnSpc>
            </a:pPr>
            <a:r>
              <a:rPr lang="en-US" altLang="zh-CN" dirty="0">
                <a:latin typeface="Times New Roman" panose="02020603050405020304" pitchFamily="18" charset="0"/>
                <a:cs typeface="Times New Roman" panose="02020603050405020304" pitchFamily="18" charset="0"/>
              </a:rPr>
              <a:t>Thanks for the feedback!</a:t>
            </a:r>
          </a:p>
          <a:p>
            <a:pPr>
              <a:lnSpc>
                <a:spcPct val="120000"/>
              </a:lnSpc>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Based on the feedback, I plan to use a consistent P95 threshold across the entire study period to make hotspots comparable over time. I will also consider setting a minimum patch size and analyzing whether the size distribution of hotspots changes over the past 30 years.</a:t>
            </a:r>
            <a:endParaRPr lang="zh-CN" altLang="zh-CN" sz="2000" dirty="0">
              <a:latin typeface="Times New Roman" panose="02020603050405020304" pitchFamily="18" charset="0"/>
              <a:cs typeface="Times New Roman" panose="02020603050405020304" pitchFamily="18" charset="0"/>
            </a:endParaRPr>
          </a:p>
        </p:txBody>
      </p:sp>
      <p:sp>
        <p:nvSpPr>
          <p:cNvPr id="14" name="页脚占位符 13">
            <a:extLst>
              <a:ext uri="{FF2B5EF4-FFF2-40B4-BE49-F238E27FC236}">
                <a16:creationId xmlns:a16="http://schemas.microsoft.com/office/drawing/2014/main" id="{10CE01E1-3F9B-CBC2-CD67-87A00B309E9D}"/>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pic>
        <p:nvPicPr>
          <p:cNvPr id="3" name="图片 2">
            <a:extLst>
              <a:ext uri="{FF2B5EF4-FFF2-40B4-BE49-F238E27FC236}">
                <a16:creationId xmlns:a16="http://schemas.microsoft.com/office/drawing/2014/main" id="{EA2115C0-5F37-78CE-69C9-6D072AD117CC}"/>
              </a:ext>
            </a:extLst>
          </p:cNvPr>
          <p:cNvPicPr>
            <a:picLocks noChangeAspect="1"/>
          </p:cNvPicPr>
          <p:nvPr/>
        </p:nvPicPr>
        <p:blipFill>
          <a:blip r:embed="rId2"/>
          <a:stretch>
            <a:fillRect/>
          </a:stretch>
        </p:blipFill>
        <p:spPr>
          <a:xfrm>
            <a:off x="292745" y="1129294"/>
            <a:ext cx="3505200" cy="4889500"/>
          </a:xfrm>
          <a:prstGeom prst="rect">
            <a:avLst/>
          </a:prstGeom>
        </p:spPr>
      </p:pic>
    </p:spTree>
    <p:extLst>
      <p:ext uri="{BB962C8B-B14F-4D97-AF65-F5344CB8AC3E}">
        <p14:creationId xmlns:p14="http://schemas.microsoft.com/office/powerpoint/2010/main" val="715599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F75B8-772A-22BC-1511-5900FA90BA8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626757F-2E9C-9726-0264-405D72CAD8AB}"/>
              </a:ext>
            </a:extLst>
          </p:cNvPr>
          <p:cNvSpPr txBox="1">
            <a:spLocks/>
          </p:cNvSpPr>
          <p:nvPr/>
        </p:nvSpPr>
        <p:spPr>
          <a:xfrm>
            <a:off x="384893" y="227965"/>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4000" dirty="0">
                <a:latin typeface="Calibri" panose="020F0502020204030204" pitchFamily="34" charset="0"/>
                <a:ea typeface="+mj-lt"/>
                <a:cs typeface="Calibri" panose="020F0502020204030204" pitchFamily="34" charset="0"/>
              </a:rPr>
              <a:t>Next Step</a:t>
            </a:r>
            <a:endParaRPr lang="zh-CN" altLang="en-US" sz="4000" dirty="0">
              <a:latin typeface="Calibri" panose="020F0502020204030204" pitchFamily="34" charset="0"/>
              <a:ea typeface="+mj-lt"/>
              <a:cs typeface="Calibri" panose="020F0502020204030204" pitchFamily="34" charset="0"/>
            </a:endParaRPr>
          </a:p>
        </p:txBody>
      </p:sp>
      <p:sp>
        <p:nvSpPr>
          <p:cNvPr id="10" name="文本框 9">
            <a:extLst>
              <a:ext uri="{FF2B5EF4-FFF2-40B4-BE49-F238E27FC236}">
                <a16:creationId xmlns:a16="http://schemas.microsoft.com/office/drawing/2014/main" id="{EA523D42-E87A-8011-E0B8-A90589C06242}"/>
              </a:ext>
            </a:extLst>
          </p:cNvPr>
          <p:cNvSpPr txBox="1"/>
          <p:nvPr/>
        </p:nvSpPr>
        <p:spPr>
          <a:xfrm>
            <a:off x="212652" y="1129293"/>
            <a:ext cx="10898372" cy="1754326"/>
          </a:xfrm>
          <a:prstGeom prst="rect">
            <a:avLst/>
          </a:prstGeom>
          <a:noFill/>
        </p:spPr>
        <p:txBody>
          <a:bodyPr wrap="square" rtlCol="0">
            <a:spAutoFit/>
          </a:bodyPr>
          <a:lstStyle/>
          <a:p>
            <a:pPr marL="285750" indent="-285750">
              <a:buFont typeface="Arial" panose="020B0604020202020204" pitchFamily="34" charset="0"/>
              <a:buChar char="•"/>
            </a:pPr>
            <a:r>
              <a:rPr lang="zh-CN" altLang="zh-CN" b="1" dirty="0">
                <a:latin typeface="Times New Roman" panose="02020603050405020304" pitchFamily="18" charset="0"/>
                <a:cs typeface="Times New Roman" panose="02020603050405020304" pitchFamily="18" charset="0"/>
              </a:rPr>
              <a:t>Data preprocessing:</a:t>
            </a:r>
            <a:r>
              <a:rPr lang="zh-CN"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Align </a:t>
            </a:r>
            <a:r>
              <a:rPr lang="zh-CN" altLang="zh-CN" dirty="0">
                <a:latin typeface="Times New Roman" panose="02020603050405020304" pitchFamily="18" charset="0"/>
                <a:cs typeface="Times New Roman" panose="02020603050405020304" pitchFamily="18" charset="0"/>
              </a:rPr>
              <a:t>the Landsat data from 1995 to 2025 to ensure consistency across different sensors and years.</a:t>
            </a:r>
          </a:p>
          <a:p>
            <a:pPr marL="285750" indent="-285750">
              <a:buFont typeface="Arial" panose="020B0604020202020204" pitchFamily="34" charset="0"/>
              <a:buChar char="•"/>
            </a:pPr>
            <a:r>
              <a:rPr lang="zh-CN" altLang="zh-CN" b="1" dirty="0">
                <a:latin typeface="Times New Roman" panose="02020603050405020304" pitchFamily="18" charset="0"/>
                <a:cs typeface="Times New Roman" panose="02020603050405020304" pitchFamily="18" charset="0"/>
              </a:rPr>
              <a:t>Threshold sensitivity analysis:</a:t>
            </a:r>
            <a:r>
              <a:rPr lang="zh-CN" altLang="zh-CN" dirty="0">
                <a:latin typeface="Times New Roman" panose="02020603050405020304" pitchFamily="18" charset="0"/>
                <a:cs typeface="Times New Roman" panose="02020603050405020304" pitchFamily="18" charset="0"/>
              </a:rPr>
              <a:t> Compare different thresholds to examine how they affect hotspot identification and spatial distribution.</a:t>
            </a:r>
          </a:p>
          <a:p>
            <a:pPr marL="285750" indent="-285750">
              <a:buFont typeface="Arial" panose="020B0604020202020204" pitchFamily="34" charset="0"/>
              <a:buChar char="•"/>
            </a:pPr>
            <a:r>
              <a:rPr lang="zh-CN" altLang="zh-CN" b="1" dirty="0">
                <a:latin typeface="Times New Roman" panose="02020603050405020304" pitchFamily="18" charset="0"/>
                <a:cs typeface="Times New Roman" panose="02020603050405020304" pitchFamily="18" charset="0"/>
              </a:rPr>
              <a:t>Minimum patch size:</a:t>
            </a:r>
            <a:r>
              <a:rPr lang="zh-CN" altLang="zh-CN" dirty="0">
                <a:latin typeface="Times New Roman" panose="02020603050405020304" pitchFamily="18" charset="0"/>
                <a:cs typeface="Times New Roman" panose="02020603050405020304" pitchFamily="18" charset="0"/>
              </a:rPr>
              <a:t> Examine the initial hotspot patch size distribution and test different minimum patch sizes to select a suitable threshold.</a:t>
            </a:r>
          </a:p>
        </p:txBody>
      </p:sp>
      <p:sp>
        <p:nvSpPr>
          <p:cNvPr id="14" name="页脚占位符 13">
            <a:extLst>
              <a:ext uri="{FF2B5EF4-FFF2-40B4-BE49-F238E27FC236}">
                <a16:creationId xmlns:a16="http://schemas.microsoft.com/office/drawing/2014/main" id="{2A9D14F6-09FB-5483-102C-62125CA01439}"/>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2029224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4A685-255B-D548-B58A-5D36E921ABF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EB20CA6-3894-62D5-F25D-6F2BD7936CEF}"/>
              </a:ext>
            </a:extLst>
          </p:cNvPr>
          <p:cNvSpPr txBox="1">
            <a:spLocks/>
          </p:cNvSpPr>
          <p:nvPr/>
        </p:nvSpPr>
        <p:spPr>
          <a:xfrm>
            <a:off x="348028" y="223818"/>
            <a:ext cx="6723332" cy="2427941"/>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6600" dirty="0">
                <a:latin typeface="Calibri" panose="020F0502020204030204" pitchFamily="34" charset="0"/>
                <a:ea typeface="+mj-lt"/>
                <a:cs typeface="Calibri" panose="020F0502020204030204" pitchFamily="34" charset="0"/>
              </a:rPr>
              <a:t>Week 2 Milestone</a:t>
            </a:r>
            <a:endParaRPr lang="zh-CN" altLang="en-US" sz="6600" dirty="0">
              <a:latin typeface="Calibri" panose="020F0502020204030204" pitchFamily="34" charset="0"/>
              <a:ea typeface="+mj-lt"/>
              <a:cs typeface="Calibri" panose="020F0502020204030204" pitchFamily="34" charset="0"/>
            </a:endParaRPr>
          </a:p>
        </p:txBody>
      </p:sp>
      <p:sp>
        <p:nvSpPr>
          <p:cNvPr id="14" name="页脚占位符 13">
            <a:extLst>
              <a:ext uri="{FF2B5EF4-FFF2-40B4-BE49-F238E27FC236}">
                <a16:creationId xmlns:a16="http://schemas.microsoft.com/office/drawing/2014/main" id="{2A788F89-C530-88B9-A984-EB81B3AE501F}"/>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3960702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63EBB99-1BF4-19EC-E51E-95EED5CD194B}"/>
              </a:ext>
            </a:extLst>
          </p:cNvPr>
          <p:cNvSpPr txBox="1">
            <a:spLocks/>
          </p:cNvSpPr>
          <p:nvPr/>
        </p:nvSpPr>
        <p:spPr>
          <a:xfrm>
            <a:off x="348028" y="1822850"/>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sz="2800" dirty="0">
                <a:latin typeface="Calibri" panose="020F0502020204030204" pitchFamily="34" charset="0"/>
                <a:ea typeface="+mj-lt"/>
                <a:cs typeface="Calibri" panose="020F0502020204030204" pitchFamily="34" charset="0"/>
              </a:rPr>
              <a:t>Motivation</a:t>
            </a:r>
            <a:endParaRPr lang="zh-CN" altLang="en-US" sz="4000" dirty="0">
              <a:latin typeface="Calibri" panose="020F0502020204030204" pitchFamily="34" charset="0"/>
              <a:ea typeface="+mj-lt"/>
              <a:cs typeface="Calibri" panose="020F0502020204030204" pitchFamily="34" charset="0"/>
            </a:endParaRPr>
          </a:p>
        </p:txBody>
      </p:sp>
      <p:sp>
        <p:nvSpPr>
          <p:cNvPr id="7" name="Title 1">
            <a:extLst>
              <a:ext uri="{FF2B5EF4-FFF2-40B4-BE49-F238E27FC236}">
                <a16:creationId xmlns:a16="http://schemas.microsoft.com/office/drawing/2014/main" id="{EAEE5683-84A6-7F74-0517-EC154174F728}"/>
              </a:ext>
            </a:extLst>
          </p:cNvPr>
          <p:cNvSpPr txBox="1">
            <a:spLocks/>
          </p:cNvSpPr>
          <p:nvPr/>
        </p:nvSpPr>
        <p:spPr>
          <a:xfrm>
            <a:off x="348028" y="223819"/>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2800" dirty="0">
                <a:latin typeface="Calibri" panose="020F0502020204030204" pitchFamily="34" charset="0"/>
                <a:ea typeface="+mj-lt"/>
                <a:cs typeface="Calibri" panose="020F0502020204030204" pitchFamily="34" charset="0"/>
              </a:rPr>
              <a:t>Current Status</a:t>
            </a:r>
            <a:endParaRPr lang="zh-CN" altLang="en-US" sz="2800" dirty="0">
              <a:latin typeface="Calibri" panose="020F0502020204030204" pitchFamily="34" charset="0"/>
              <a:ea typeface="+mj-lt"/>
              <a:cs typeface="Calibri" panose="020F0502020204030204" pitchFamily="34" charset="0"/>
            </a:endParaRPr>
          </a:p>
        </p:txBody>
      </p:sp>
      <p:sp>
        <p:nvSpPr>
          <p:cNvPr id="8" name="Title 1">
            <a:extLst>
              <a:ext uri="{FF2B5EF4-FFF2-40B4-BE49-F238E27FC236}">
                <a16:creationId xmlns:a16="http://schemas.microsoft.com/office/drawing/2014/main" id="{A7085256-E92A-E2BA-C3BA-6B76CBA43BB7}"/>
              </a:ext>
            </a:extLst>
          </p:cNvPr>
          <p:cNvSpPr txBox="1">
            <a:spLocks/>
          </p:cNvSpPr>
          <p:nvPr/>
        </p:nvSpPr>
        <p:spPr>
          <a:xfrm>
            <a:off x="348028" y="4842248"/>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2800" dirty="0">
                <a:latin typeface="Calibri" panose="020F0502020204030204" pitchFamily="34" charset="0"/>
                <a:ea typeface="+mj-lt"/>
                <a:cs typeface="Calibri" panose="020F0502020204030204" pitchFamily="34" charset="0"/>
              </a:rPr>
              <a:t>Research Question</a:t>
            </a:r>
            <a:endParaRPr lang="zh-CN" altLang="en-US" sz="2800" dirty="0">
              <a:latin typeface="Calibri" panose="020F0502020204030204" pitchFamily="34" charset="0"/>
              <a:ea typeface="+mj-lt"/>
              <a:cs typeface="Calibri" panose="020F0502020204030204" pitchFamily="34" charset="0"/>
            </a:endParaRPr>
          </a:p>
        </p:txBody>
      </p:sp>
      <p:sp>
        <p:nvSpPr>
          <p:cNvPr id="9" name="文本框 8">
            <a:extLst>
              <a:ext uri="{FF2B5EF4-FFF2-40B4-BE49-F238E27FC236}">
                <a16:creationId xmlns:a16="http://schemas.microsoft.com/office/drawing/2014/main" id="{A835E1F6-061E-A8A1-AA97-E8B3A253B828}"/>
              </a:ext>
            </a:extLst>
          </p:cNvPr>
          <p:cNvSpPr txBox="1"/>
          <p:nvPr/>
        </p:nvSpPr>
        <p:spPr>
          <a:xfrm>
            <a:off x="557135" y="676734"/>
            <a:ext cx="10845210" cy="798745"/>
          </a:xfrm>
          <a:prstGeom prst="rect">
            <a:avLst/>
          </a:prstGeom>
          <a:noFill/>
        </p:spPr>
        <p:txBody>
          <a:bodyPr wrap="square" rtlCol="0">
            <a:spAutoFit/>
          </a:bodyPr>
          <a:lstStyle/>
          <a:p>
            <a:pPr>
              <a:lnSpc>
                <a:spcPct val="120000"/>
              </a:lnSpc>
            </a:pPr>
            <a:r>
              <a:rPr lang="zh-CN" altLang="zh-CN" sz="2000" dirty="0">
                <a:latin typeface="Times New Roman" panose="02020603050405020304" pitchFamily="18" charset="0"/>
                <a:cs typeface="Times New Roman" panose="02020603050405020304" pitchFamily="18" charset="0"/>
              </a:rPr>
              <a:t>I am currently more interested in the </a:t>
            </a:r>
            <a:r>
              <a:rPr lang="zh-CN" altLang="zh-CN" sz="2000" b="1" dirty="0">
                <a:latin typeface="Times New Roman" panose="02020603050405020304" pitchFamily="18" charset="0"/>
                <a:cs typeface="Times New Roman" panose="02020603050405020304" pitchFamily="18" charset="0"/>
              </a:rPr>
              <a:t>urban heat</a:t>
            </a:r>
            <a:r>
              <a:rPr lang="zh-CN" altLang="zh-CN" sz="2000" dirty="0">
                <a:latin typeface="Times New Roman" panose="02020603050405020304" pitchFamily="18" charset="0"/>
                <a:cs typeface="Times New Roman" panose="02020603050405020304" pitchFamily="18" charset="0"/>
              </a:rPr>
              <a:t> topic because it seems more feasible and easier to manage. There are also more related studies, so I can learn from their methods.</a:t>
            </a:r>
            <a:endParaRPr kumimoji="1" lang="zh-CN" altLang="en-US" sz="2000"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23132EFE-C9B2-038B-85BB-AA7FA8E8A442}"/>
              </a:ext>
            </a:extLst>
          </p:cNvPr>
          <p:cNvSpPr txBox="1"/>
          <p:nvPr/>
        </p:nvSpPr>
        <p:spPr>
          <a:xfrm>
            <a:off x="557135" y="2233638"/>
            <a:ext cx="10961470" cy="2276072"/>
          </a:xfrm>
          <a:prstGeom prst="rect">
            <a:avLst/>
          </a:prstGeom>
          <a:noFill/>
        </p:spPr>
        <p:txBody>
          <a:bodyPr wrap="square" rtlCol="0">
            <a:spAutoFit/>
          </a:bodyPr>
          <a:lstStyle/>
          <a:p>
            <a:pPr>
              <a:lnSpc>
                <a:spcPct val="120000"/>
              </a:lnSpc>
            </a:pPr>
            <a:r>
              <a:rPr lang="zh-CN" altLang="zh-CN" sz="2000" dirty="0">
                <a:latin typeface="Times New Roman" panose="02020603050405020304" pitchFamily="18" charset="0"/>
                <a:cs typeface="Times New Roman" panose="02020603050405020304" pitchFamily="18" charset="0"/>
              </a:rPr>
              <a:t>With global warming, extreme heat events are becoming more common.</a:t>
            </a:r>
          </a:p>
          <a:p>
            <a:pPr>
              <a:lnSpc>
                <a:spcPct val="120000"/>
              </a:lnSpc>
            </a:pPr>
            <a:r>
              <a:rPr lang="zh-CN" altLang="zh-CN" sz="2000" dirty="0">
                <a:latin typeface="Times New Roman" panose="02020603050405020304" pitchFamily="18" charset="0"/>
                <a:cs typeface="Times New Roman" panose="02020603050405020304" pitchFamily="18" charset="0"/>
              </a:rPr>
              <a:t>Beijing has developed and expanded rapidly over the past 30 years. As a large and densely populated city, it is also strongly affected by the urban heat island effect.</a:t>
            </a:r>
          </a:p>
          <a:p>
            <a:pPr>
              <a:lnSpc>
                <a:spcPct val="120000"/>
              </a:lnSpc>
            </a:pPr>
            <a:r>
              <a:rPr lang="zh-CN" altLang="zh-CN" sz="2000" dirty="0">
                <a:latin typeface="Times New Roman" panose="02020603050405020304" pitchFamily="18" charset="0"/>
                <a:cs typeface="Times New Roman" panose="02020603050405020304" pitchFamily="18" charset="0"/>
              </a:rPr>
              <a:t>In recent years, extreme summer heat has affected people's daily lives and health. By studying how urban heat changes over time and space, this project may provide useful information for understanding and reducing heat risks.</a:t>
            </a:r>
          </a:p>
        </p:txBody>
      </p:sp>
      <p:sp>
        <p:nvSpPr>
          <p:cNvPr id="11" name="文本框 10">
            <a:extLst>
              <a:ext uri="{FF2B5EF4-FFF2-40B4-BE49-F238E27FC236}">
                <a16:creationId xmlns:a16="http://schemas.microsoft.com/office/drawing/2014/main" id="{1E56CB14-4D81-D89A-B50E-B66E2F61D7CF}"/>
              </a:ext>
            </a:extLst>
          </p:cNvPr>
          <p:cNvSpPr txBox="1"/>
          <p:nvPr/>
        </p:nvSpPr>
        <p:spPr>
          <a:xfrm>
            <a:off x="557135" y="5305985"/>
            <a:ext cx="10961470" cy="798745"/>
          </a:xfrm>
          <a:prstGeom prst="rect">
            <a:avLst/>
          </a:prstGeom>
          <a:noFill/>
        </p:spPr>
        <p:txBody>
          <a:bodyPr wrap="square" rtlCol="0">
            <a:spAutoFit/>
          </a:bodyPr>
          <a:lstStyle/>
          <a:p>
            <a:pPr>
              <a:lnSpc>
                <a:spcPct val="120000"/>
              </a:lnSpc>
            </a:pPr>
            <a:r>
              <a:rPr lang="zh-CN" altLang="zh-CN" sz="2000" dirty="0">
                <a:latin typeface="Times New Roman" panose="02020603050405020304" pitchFamily="18" charset="0"/>
                <a:cs typeface="Times New Roman" panose="02020603050405020304" pitchFamily="18" charset="0"/>
              </a:rPr>
              <a:t>How have urban heat hotspots in Beijing changed over space and time during the past 30 years, and how are these changes related to land-cover change?</a:t>
            </a:r>
            <a:endParaRPr lang="en-US" altLang="zh-CN" sz="2000" dirty="0">
              <a:latin typeface="Times New Roman" panose="02020603050405020304" pitchFamily="18" charset="0"/>
              <a:cs typeface="Times New Roman" panose="02020603050405020304" pitchFamily="18" charset="0"/>
            </a:endParaRPr>
          </a:p>
        </p:txBody>
      </p:sp>
      <p:sp>
        <p:nvSpPr>
          <p:cNvPr id="14" name="页脚占位符 13">
            <a:extLst>
              <a:ext uri="{FF2B5EF4-FFF2-40B4-BE49-F238E27FC236}">
                <a16:creationId xmlns:a16="http://schemas.microsoft.com/office/drawing/2014/main" id="{BF828901-6DFF-AB1B-7FBB-FD2AEA623EF1}"/>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3913903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AE03-ABFC-F25A-6831-9DC89156EE4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1FE759AC-2539-1BBF-4643-A9DF48770DDF}"/>
              </a:ext>
            </a:extLst>
          </p:cNvPr>
          <p:cNvSpPr txBox="1">
            <a:spLocks/>
          </p:cNvSpPr>
          <p:nvPr/>
        </p:nvSpPr>
        <p:spPr>
          <a:xfrm>
            <a:off x="348028" y="223819"/>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zh-CN" altLang="zh-CN" sz="2800" dirty="0">
                <a:latin typeface="Calibri" panose="020F0502020204030204" pitchFamily="34" charset="0"/>
                <a:cs typeface="Calibri" panose="020F0502020204030204" pitchFamily="34" charset="0"/>
              </a:rPr>
              <a:t>ALIGNMENT STATE</a:t>
            </a:r>
          </a:p>
        </p:txBody>
      </p:sp>
      <p:sp>
        <p:nvSpPr>
          <p:cNvPr id="3" name="文本框 2">
            <a:extLst>
              <a:ext uri="{FF2B5EF4-FFF2-40B4-BE49-F238E27FC236}">
                <a16:creationId xmlns:a16="http://schemas.microsoft.com/office/drawing/2014/main" id="{1F2A9572-9F3E-DB69-35E5-F6283BB8E568}"/>
              </a:ext>
            </a:extLst>
          </p:cNvPr>
          <p:cNvSpPr txBox="1"/>
          <p:nvPr/>
        </p:nvSpPr>
        <p:spPr>
          <a:xfrm>
            <a:off x="692624" y="750473"/>
            <a:ext cx="10961470" cy="5230727"/>
          </a:xfrm>
          <a:prstGeom prst="rect">
            <a:avLst/>
          </a:prstGeom>
          <a:noFill/>
        </p:spPr>
        <p:txBody>
          <a:bodyPr wrap="square" rtlCol="0">
            <a:spAutoFit/>
          </a:bodyPr>
          <a:lstStyle/>
          <a:p>
            <a:pPr>
              <a:lnSpc>
                <a:spcPct val="120000"/>
              </a:lnSpc>
            </a:pPr>
            <a:r>
              <a:rPr lang="zh-CN" altLang="zh-CN" sz="2000" b="1" dirty="0">
                <a:latin typeface="Times New Roman" panose="02020603050405020304" pitchFamily="18" charset="0"/>
                <a:cs typeface="Times New Roman" panose="02020603050405020304" pitchFamily="18" charset="0"/>
              </a:rPr>
              <a:t>Data</a:t>
            </a:r>
            <a:endParaRPr lang="zh-CN"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I plan to use Landsat data from 1995 to 2025, mainly from summer (June–August).</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I will use the data to study changes in Land Surface Temperature (LST).</a:t>
            </a:r>
            <a:endParaRPr lang="en-US"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kumimoji="1" lang="en-US" altLang="zh-CN" sz="2000" dirty="0">
                <a:latin typeface="Times New Roman" panose="02020603050405020304" pitchFamily="18" charset="0"/>
                <a:cs typeface="Times New Roman" panose="02020603050405020304" pitchFamily="18" charset="0"/>
              </a:rPr>
              <a:t>I will use Copernicus land cover dataset 1992 to study the land cover change.</a:t>
            </a:r>
            <a:endParaRPr lang="zh-CN" altLang="zh-CN" sz="2000" dirty="0">
              <a:latin typeface="Times New Roman" panose="02020603050405020304" pitchFamily="18" charset="0"/>
              <a:cs typeface="Times New Roman" panose="02020603050405020304" pitchFamily="18" charset="0"/>
            </a:endParaRPr>
          </a:p>
          <a:p>
            <a:pPr>
              <a:lnSpc>
                <a:spcPct val="120000"/>
              </a:lnSpc>
            </a:pPr>
            <a:r>
              <a:rPr lang="zh-CN" altLang="zh-CN" sz="2000" b="1" dirty="0">
                <a:latin typeface="Times New Roman" panose="02020603050405020304" pitchFamily="18" charset="0"/>
                <a:cs typeface="Times New Roman" panose="02020603050405020304" pitchFamily="18" charset="0"/>
              </a:rPr>
              <a:t>How to define hotspots</a:t>
            </a:r>
            <a:endParaRPr lang="zh-CN"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My current idea is to use Landsat data from June to August each year and calculate the median LST for each pixel to create an annual summer LST map. Then, I plan to select the top 5% hottest pixels as hotspot candidates and cluster these pixels.</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(threshold selection???)</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However, I found that some studies use Getis–Ord Gi* to detect hotspots. I still need to learn more about this method and decide which method is more suitable for my project.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(neighborhood distance???) </a:t>
            </a:r>
            <a:endParaRPr lang="zh-CN" altLang="zh-CN" sz="2000" dirty="0">
              <a:latin typeface="Times New Roman" panose="02020603050405020304" pitchFamily="18" charset="0"/>
              <a:cs typeface="Times New Roman" panose="02020603050405020304" pitchFamily="18" charset="0"/>
            </a:endParaRPr>
          </a:p>
          <a:p>
            <a:pPr>
              <a:lnSpc>
                <a:spcPct val="120000"/>
              </a:lnSpc>
            </a:pPr>
            <a:r>
              <a:rPr lang="zh-CN" altLang="zh-CN" sz="2000" b="1" dirty="0">
                <a:latin typeface="Times New Roman" panose="02020603050405020304" pitchFamily="18" charset="0"/>
                <a:cs typeface="Times New Roman" panose="02020603050405020304" pitchFamily="18" charset="0"/>
              </a:rPr>
              <a:t>Expected Output</a:t>
            </a:r>
            <a:endParaRPr lang="zh-CN"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Maps showing how urban heat hotspots have changed over the past 30 years.</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Compare the hotspot changes with land-cover changes to see if there is a relationship between them.</a:t>
            </a:r>
          </a:p>
        </p:txBody>
      </p:sp>
      <p:sp>
        <p:nvSpPr>
          <p:cNvPr id="11" name="页脚占位符 10">
            <a:extLst>
              <a:ext uri="{FF2B5EF4-FFF2-40B4-BE49-F238E27FC236}">
                <a16:creationId xmlns:a16="http://schemas.microsoft.com/office/drawing/2014/main" id="{D9084A0A-70CF-52BE-D2FC-B420AC48BADF}"/>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3388868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BE89B-8C06-22DE-35B6-68EEAE43DD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428321C-ED93-9CAD-CD78-DF283B9657AC}"/>
              </a:ext>
            </a:extLst>
          </p:cNvPr>
          <p:cNvSpPr txBox="1">
            <a:spLocks/>
          </p:cNvSpPr>
          <p:nvPr/>
        </p:nvSpPr>
        <p:spPr>
          <a:xfrm>
            <a:off x="421420" y="226607"/>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2800" dirty="0">
                <a:latin typeface="Calibri" panose="020F0502020204030204" pitchFamily="34" charset="0"/>
                <a:ea typeface="+mj-lt"/>
                <a:cs typeface="Calibri" panose="020F0502020204030204" pitchFamily="34" charset="0"/>
              </a:rPr>
              <a:t>Uncertainty</a:t>
            </a:r>
            <a:endParaRPr lang="zh-CN" altLang="en-US" sz="2800" dirty="0">
              <a:latin typeface="Calibri" panose="020F0502020204030204" pitchFamily="34" charset="0"/>
              <a:ea typeface="+mj-lt"/>
              <a:cs typeface="Calibri" panose="020F0502020204030204" pitchFamily="34" charset="0"/>
            </a:endParaRPr>
          </a:p>
        </p:txBody>
      </p:sp>
      <p:sp>
        <p:nvSpPr>
          <p:cNvPr id="8" name="Title 1">
            <a:extLst>
              <a:ext uri="{FF2B5EF4-FFF2-40B4-BE49-F238E27FC236}">
                <a16:creationId xmlns:a16="http://schemas.microsoft.com/office/drawing/2014/main" id="{B3533812-84FD-FC51-91FB-9AFD4751338C}"/>
              </a:ext>
            </a:extLst>
          </p:cNvPr>
          <p:cNvSpPr txBox="1">
            <a:spLocks/>
          </p:cNvSpPr>
          <p:nvPr/>
        </p:nvSpPr>
        <p:spPr>
          <a:xfrm>
            <a:off x="421420" y="4234117"/>
            <a:ext cx="11650662" cy="625944"/>
          </a:xfrm>
          <a:prstGeom prst="rect">
            <a:avLst/>
          </a:prstGeom>
        </p:spPr>
        <p:txBody>
          <a:bodyPr vert="horz" lIns="0" tIns="0" rIns="0" bIns="0" rtlCol="0" anchor="t">
            <a:noAutofit/>
          </a:bodyPr>
          <a:lstStyle>
            <a:lvl1pPr algn="l" defTabSz="914400" rtl="0" eaLnBrk="1" latinLnBrk="0" hangingPunct="1">
              <a:lnSpc>
                <a:spcPct val="97000"/>
              </a:lnSpc>
              <a:spcBef>
                <a:spcPct val="0"/>
              </a:spcBef>
              <a:buNone/>
              <a:defRPr sz="3600" b="1" kern="1200" spc="0" baseline="0">
                <a:solidFill>
                  <a:schemeClr val="tx1"/>
                </a:solidFill>
                <a:latin typeface="+mj-lt"/>
                <a:ea typeface="+mj-ea"/>
                <a:cs typeface="+mj-cs"/>
              </a:defRPr>
            </a:lvl1pPr>
          </a:lstStyle>
          <a:p>
            <a:r>
              <a:rPr lang="en-US" altLang="zh-CN" sz="2800" dirty="0">
                <a:latin typeface="Calibri" panose="020F0502020204030204" pitchFamily="34" charset="0"/>
                <a:ea typeface="+mj-lt"/>
                <a:cs typeface="Calibri" panose="020F0502020204030204" pitchFamily="34" charset="0"/>
              </a:rPr>
              <a:t>Next Step</a:t>
            </a:r>
            <a:endParaRPr lang="zh-CN" altLang="en-US" sz="2800" dirty="0">
              <a:latin typeface="Calibri" panose="020F0502020204030204" pitchFamily="34" charset="0"/>
              <a:ea typeface="+mj-lt"/>
              <a:cs typeface="Calibri" panose="020F0502020204030204" pitchFamily="34" charset="0"/>
            </a:endParaRPr>
          </a:p>
        </p:txBody>
      </p:sp>
      <p:sp>
        <p:nvSpPr>
          <p:cNvPr id="4" name="文本框 3">
            <a:extLst>
              <a:ext uri="{FF2B5EF4-FFF2-40B4-BE49-F238E27FC236}">
                <a16:creationId xmlns:a16="http://schemas.microsoft.com/office/drawing/2014/main" id="{D68FC62C-0242-B916-289C-6187565FDB0C}"/>
              </a:ext>
            </a:extLst>
          </p:cNvPr>
          <p:cNvSpPr txBox="1"/>
          <p:nvPr/>
        </p:nvSpPr>
        <p:spPr>
          <a:xfrm>
            <a:off x="692624" y="730374"/>
            <a:ext cx="10961470" cy="3384068"/>
          </a:xfrm>
          <a:prstGeom prst="rect">
            <a:avLst/>
          </a:prstGeom>
          <a:noFill/>
        </p:spPr>
        <p:txBody>
          <a:bodyPr wrap="square" rtlCol="0">
            <a:spAutoFit/>
          </a:bodyPr>
          <a:lstStyle/>
          <a:p>
            <a:pPr>
              <a:lnSpc>
                <a:spcPct val="120000"/>
              </a:lnSpc>
            </a:pPr>
            <a:r>
              <a:rPr lang="zh-CN" altLang="zh-CN" sz="2000" b="1" dirty="0">
                <a:latin typeface="Times New Roman" panose="02020603050405020304" pitchFamily="18" charset="0"/>
                <a:cs typeface="Times New Roman" panose="02020603050405020304" pitchFamily="18" charset="0"/>
              </a:rPr>
              <a:t>Data</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How to ensure cross-sensor consistency among different generations of Landsat data over the 30-year study period.</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How to deal with differences in spatial resolution and maintain a consistent analysis scale.</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How cloud cover and missing observations may affect annual LST estimates.</a:t>
            </a:r>
          </a:p>
          <a:p>
            <a:pPr>
              <a:lnSpc>
                <a:spcPct val="120000"/>
              </a:lnSpc>
            </a:pPr>
            <a:r>
              <a:rPr lang="zh-CN" altLang="zh-CN" sz="2000" b="1" dirty="0">
                <a:latin typeface="Times New Roman" panose="02020603050405020304" pitchFamily="18" charset="0"/>
                <a:cs typeface="Times New Roman" panose="02020603050405020304" pitchFamily="18" charset="0"/>
              </a:rPr>
              <a:t>Methods</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Should hotspot detection be based on a fixed percentile threshold</a:t>
            </a:r>
            <a:r>
              <a:rPr lang="en-US" altLang="zh-CN" sz="2000" dirty="0">
                <a:latin typeface="Times New Roman" panose="02020603050405020304" pitchFamily="18" charset="0"/>
                <a:cs typeface="Times New Roman" panose="02020603050405020304" pitchFamily="18" charset="0"/>
              </a:rPr>
              <a:t>?</a:t>
            </a:r>
            <a:endParaRPr lang="zh-CN" altLang="zh-CN" sz="2000" dirty="0">
              <a:latin typeface="Times New Roman" panose="02020603050405020304" pitchFamily="18" charset="0"/>
              <a:cs typeface="Times New Roman" panose="02020603050405020304" pitchFamily="18" charset="0"/>
            </a:endParaRP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How can persistent hotspots be defined across multiple years?</a:t>
            </a:r>
          </a:p>
          <a:p>
            <a:pPr marL="342900" indent="-34290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Given the existing literature on urban heat hotspots, how can the project provide a distinct contribution?</a:t>
            </a:r>
          </a:p>
        </p:txBody>
      </p:sp>
      <p:sp>
        <p:nvSpPr>
          <p:cNvPr id="9" name="文本框 8">
            <a:extLst>
              <a:ext uri="{FF2B5EF4-FFF2-40B4-BE49-F238E27FC236}">
                <a16:creationId xmlns:a16="http://schemas.microsoft.com/office/drawing/2014/main" id="{61D801C5-19A5-3F3F-D6DF-8A395BB9CFD8}"/>
              </a:ext>
            </a:extLst>
          </p:cNvPr>
          <p:cNvSpPr txBox="1"/>
          <p:nvPr/>
        </p:nvSpPr>
        <p:spPr>
          <a:xfrm>
            <a:off x="615265" y="4777422"/>
            <a:ext cx="10961470" cy="1537409"/>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Review relevant literature and compare methods used for </a:t>
            </a:r>
            <a:r>
              <a:rPr lang="zh-CN" altLang="zh-CN" sz="2000" b="1" dirty="0">
                <a:latin typeface="Times New Roman" panose="02020603050405020304" pitchFamily="18" charset="0"/>
                <a:cs typeface="Times New Roman" panose="02020603050405020304" pitchFamily="18" charset="0"/>
              </a:rPr>
              <a:t>urban heat hotspot detection and long-term LST analysis</a:t>
            </a:r>
            <a:r>
              <a:rPr lang="zh-CN"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Finalize the definition of </a:t>
            </a:r>
            <a:r>
              <a:rPr lang="zh-CN" altLang="zh-CN" sz="2000" b="1" dirty="0">
                <a:latin typeface="Times New Roman" panose="02020603050405020304" pitchFamily="18" charset="0"/>
                <a:cs typeface="Times New Roman" panose="02020603050405020304" pitchFamily="18" charset="0"/>
              </a:rPr>
              <a:t>hotspots and hotspot persistence</a:t>
            </a:r>
            <a:r>
              <a:rPr lang="zh-CN"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zh-CN" altLang="zh-CN" sz="2000" dirty="0">
                <a:latin typeface="Times New Roman" panose="02020603050405020304" pitchFamily="18" charset="0"/>
                <a:cs typeface="Times New Roman" panose="02020603050405020304" pitchFamily="18" charset="0"/>
              </a:rPr>
              <a:t>Identify the required datasets and test their availability and preprocessing workflow.</a:t>
            </a:r>
            <a:endParaRPr kumimoji="1" lang="zh-CN" altLang="en-US" sz="2000" dirty="0">
              <a:latin typeface="Times New Roman" panose="02020603050405020304" pitchFamily="18" charset="0"/>
              <a:cs typeface="Times New Roman" panose="02020603050405020304" pitchFamily="18" charset="0"/>
            </a:endParaRPr>
          </a:p>
        </p:txBody>
      </p:sp>
      <p:sp>
        <p:nvSpPr>
          <p:cNvPr id="11" name="页脚占位符 10">
            <a:extLst>
              <a:ext uri="{FF2B5EF4-FFF2-40B4-BE49-F238E27FC236}">
                <a16:creationId xmlns:a16="http://schemas.microsoft.com/office/drawing/2014/main" id="{0D8FAE10-86F4-F9D8-2FF3-2B06907A4293}"/>
              </a:ext>
            </a:extLst>
          </p:cNvPr>
          <p:cNvSpPr>
            <a:spLocks noGrp="1"/>
          </p:cNvSpPr>
          <p:nvPr>
            <p:ph type="ftr" sz="quarter" idx="11"/>
          </p:nvPr>
        </p:nvSpPr>
        <p:spPr/>
        <p:txBody>
          <a:bodyPr/>
          <a:lstStyle/>
          <a:p>
            <a:r>
              <a:rPr kumimoji="1" lang="de-CH" altLang="zh-CN"/>
              <a:t>Generative AI was only used for language editing</a:t>
            </a:r>
            <a:endParaRPr kumimoji="1" lang="zh-CN" altLang="en-US"/>
          </a:p>
        </p:txBody>
      </p:sp>
    </p:spTree>
    <p:extLst>
      <p:ext uri="{BB962C8B-B14F-4D97-AF65-F5344CB8AC3E}">
        <p14:creationId xmlns:p14="http://schemas.microsoft.com/office/powerpoint/2010/main" val="237788063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6130</TotalTime>
  <Words>1069</Words>
  <Application>Microsoft Macintosh PowerPoint</Application>
  <PresentationFormat>宽屏</PresentationFormat>
  <Paragraphs>88</Paragraphs>
  <Slides>13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13</vt:i4>
      </vt:variant>
    </vt:vector>
  </HeadingPairs>
  <TitlesOfParts>
    <vt:vector size="19" baseType="lpstr">
      <vt:lpstr>等线</vt:lpstr>
      <vt:lpstr>等线 Light</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Meng Zhang</dc:creator>
  <cp:lastModifiedBy>Meng Zhang</cp:lastModifiedBy>
  <cp:revision>8</cp:revision>
  <dcterms:created xsi:type="dcterms:W3CDTF">2026-09-28T07:30:04Z</dcterms:created>
  <dcterms:modified xsi:type="dcterms:W3CDTF">2026-10-12T08:17:44Z</dcterms:modified>
</cp:coreProperties>
</file>