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82"/>
  </p:normalViewPr>
  <p:slideViewPr>
    <p:cSldViewPr snapToGrid="0">
      <p:cViewPr varScale="1">
        <p:scale>
          <a:sx n="126" d="100"/>
          <a:sy n="126" d="100"/>
        </p:scale>
        <p:origin x="232" y="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17EFEB-4C5E-0748-B6FC-F99E4429BE78}" type="datetimeFigureOut">
              <a:rPr kumimoji="1" lang="zh-CN" altLang="en-US" smtClean="0"/>
              <a:t>2026/9/28</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826502-3F49-6C4E-B259-7E45008D3712}" type="slidenum">
              <a:rPr kumimoji="1" lang="zh-CN" altLang="en-US" smtClean="0"/>
              <a:t>‹#›</a:t>
            </a:fld>
            <a:endParaRPr kumimoji="1" lang="zh-CN" altLang="en-US"/>
          </a:p>
        </p:txBody>
      </p:sp>
    </p:spTree>
    <p:extLst>
      <p:ext uri="{BB962C8B-B14F-4D97-AF65-F5344CB8AC3E}">
        <p14:creationId xmlns:p14="http://schemas.microsoft.com/office/powerpoint/2010/main" val="1908911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FB6DD7-2CDA-38AC-BEF6-96DDA903E67A}"/>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2326C3BF-8974-B4EB-A37B-65383D1703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B081F5ED-5C48-22A4-B02D-ED51AC0BF5BF}"/>
              </a:ext>
            </a:extLst>
          </p:cNvPr>
          <p:cNvSpPr>
            <a:spLocks noGrp="1"/>
          </p:cNvSpPr>
          <p:nvPr>
            <p:ph type="dt" sz="half" idx="10"/>
          </p:nvPr>
        </p:nvSpPr>
        <p:spPr/>
        <p:txBody>
          <a:bodyPr/>
          <a:lstStyle/>
          <a:p>
            <a:fld id="{25B7C531-AA35-BD42-8EDD-6497B840D1A1}" type="datetime1">
              <a:rPr kumimoji="1" lang="zh-CN" altLang="en-US" smtClean="0"/>
              <a:t>2026/9/28</a:t>
            </a:fld>
            <a:endParaRPr kumimoji="1" lang="zh-CN" altLang="en-US"/>
          </a:p>
        </p:txBody>
      </p:sp>
      <p:sp>
        <p:nvSpPr>
          <p:cNvPr id="5" name="页脚占位符 4">
            <a:extLst>
              <a:ext uri="{FF2B5EF4-FFF2-40B4-BE49-F238E27FC236}">
                <a16:creationId xmlns:a16="http://schemas.microsoft.com/office/drawing/2014/main" id="{F2341E37-9DF8-220F-3D6A-8A567967B0E1}"/>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6" name="灯片编号占位符 5">
            <a:extLst>
              <a:ext uri="{FF2B5EF4-FFF2-40B4-BE49-F238E27FC236}">
                <a16:creationId xmlns:a16="http://schemas.microsoft.com/office/drawing/2014/main" id="{645C88CF-003F-C58A-4197-0310CF2D71C9}"/>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21373866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B5D30D4-993E-A34B-FB1F-3B5239E398DA}"/>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BAABD35B-A4F0-7DDC-B066-E2E8F0401F3A}"/>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208D254C-1207-CA32-C5C0-AB2F1BE8CED3}"/>
              </a:ext>
            </a:extLst>
          </p:cNvPr>
          <p:cNvSpPr>
            <a:spLocks noGrp="1"/>
          </p:cNvSpPr>
          <p:nvPr>
            <p:ph type="dt" sz="half" idx="10"/>
          </p:nvPr>
        </p:nvSpPr>
        <p:spPr/>
        <p:txBody>
          <a:bodyPr/>
          <a:lstStyle/>
          <a:p>
            <a:fld id="{9E610810-8D85-3D43-B532-F5BEFD57356F}" type="datetime1">
              <a:rPr kumimoji="1" lang="zh-CN" altLang="en-US" smtClean="0"/>
              <a:t>2026/9/28</a:t>
            </a:fld>
            <a:endParaRPr kumimoji="1" lang="zh-CN" altLang="en-US"/>
          </a:p>
        </p:txBody>
      </p:sp>
      <p:sp>
        <p:nvSpPr>
          <p:cNvPr id="5" name="页脚占位符 4">
            <a:extLst>
              <a:ext uri="{FF2B5EF4-FFF2-40B4-BE49-F238E27FC236}">
                <a16:creationId xmlns:a16="http://schemas.microsoft.com/office/drawing/2014/main" id="{441B9A75-A73C-AE00-76BF-149158D8461A}"/>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6" name="灯片编号占位符 5">
            <a:extLst>
              <a:ext uri="{FF2B5EF4-FFF2-40B4-BE49-F238E27FC236}">
                <a16:creationId xmlns:a16="http://schemas.microsoft.com/office/drawing/2014/main" id="{9A09A9EC-D03F-1D60-04D9-8871630130EC}"/>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28755636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F5B27DD-B40F-18BA-1316-EF6A20430690}"/>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788EA344-80FC-A348-4FD3-B27F0A525C1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C0A9AFD-CB00-637A-9E54-3C8FE3120A0D}"/>
              </a:ext>
            </a:extLst>
          </p:cNvPr>
          <p:cNvSpPr>
            <a:spLocks noGrp="1"/>
          </p:cNvSpPr>
          <p:nvPr>
            <p:ph type="dt" sz="half" idx="10"/>
          </p:nvPr>
        </p:nvSpPr>
        <p:spPr/>
        <p:txBody>
          <a:bodyPr/>
          <a:lstStyle/>
          <a:p>
            <a:fld id="{7E8F8805-D90F-984B-9976-5EA3080F7F16}" type="datetime1">
              <a:rPr kumimoji="1" lang="zh-CN" altLang="en-US" smtClean="0"/>
              <a:t>2026/9/28</a:t>
            </a:fld>
            <a:endParaRPr kumimoji="1" lang="zh-CN" altLang="en-US"/>
          </a:p>
        </p:txBody>
      </p:sp>
      <p:sp>
        <p:nvSpPr>
          <p:cNvPr id="5" name="页脚占位符 4">
            <a:extLst>
              <a:ext uri="{FF2B5EF4-FFF2-40B4-BE49-F238E27FC236}">
                <a16:creationId xmlns:a16="http://schemas.microsoft.com/office/drawing/2014/main" id="{FA2A48FF-3107-AC44-93B4-8A96E32D9C2A}"/>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6" name="灯片编号占位符 5">
            <a:extLst>
              <a:ext uri="{FF2B5EF4-FFF2-40B4-BE49-F238E27FC236}">
                <a16:creationId xmlns:a16="http://schemas.microsoft.com/office/drawing/2014/main" id="{A559A154-B7E1-2B45-E798-3DB79F5143C5}"/>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24114641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5E05F-EF97-E29A-1831-B983277686AB}"/>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C60F57BD-F012-7015-A9C6-821C91831521}"/>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2722D907-939B-32AB-5F09-DB6F2D47ED78}"/>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75AD8BBA-F54B-F8BF-730D-0593A1FC9B22}"/>
              </a:ext>
            </a:extLst>
          </p:cNvPr>
          <p:cNvSpPr>
            <a:spLocks noGrp="1"/>
          </p:cNvSpPr>
          <p:nvPr>
            <p:ph type="dt" sz="half" idx="10"/>
          </p:nvPr>
        </p:nvSpPr>
        <p:spPr/>
        <p:txBody>
          <a:bodyPr/>
          <a:lstStyle/>
          <a:p>
            <a:fld id="{9B04A561-600E-D446-8429-320318904346}" type="datetime1">
              <a:rPr kumimoji="1" lang="zh-CN" altLang="en-US" smtClean="0"/>
              <a:t>2026/9/28</a:t>
            </a:fld>
            <a:endParaRPr kumimoji="1" lang="zh-CN" altLang="en-US"/>
          </a:p>
        </p:txBody>
      </p:sp>
      <p:sp>
        <p:nvSpPr>
          <p:cNvPr id="6" name="页脚占位符 5">
            <a:extLst>
              <a:ext uri="{FF2B5EF4-FFF2-40B4-BE49-F238E27FC236}">
                <a16:creationId xmlns:a16="http://schemas.microsoft.com/office/drawing/2014/main" id="{8138C165-B455-B845-1DBE-460E8E97F73C}"/>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7" name="灯片编号占位符 6">
            <a:extLst>
              <a:ext uri="{FF2B5EF4-FFF2-40B4-BE49-F238E27FC236}">
                <a16:creationId xmlns:a16="http://schemas.microsoft.com/office/drawing/2014/main" id="{EBF076AD-CE95-A77E-0E36-D29C1B08F3C4}"/>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30631533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D2BA81-797D-0765-9BA7-4EB02919F480}"/>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7C11AF89-F513-83BF-9B94-F09C0BB1B8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F0362913-121B-FAAE-6F8F-170F924D514D}"/>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3F26DD9-249B-0FCC-8982-5F27FAAA256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DBDEC8C0-C32C-27AF-3418-20B1E76AEFE9}"/>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9FD6B9C5-F01A-E18D-700E-E08C98064C9D}"/>
              </a:ext>
            </a:extLst>
          </p:cNvPr>
          <p:cNvSpPr>
            <a:spLocks noGrp="1"/>
          </p:cNvSpPr>
          <p:nvPr>
            <p:ph type="dt" sz="half" idx="10"/>
          </p:nvPr>
        </p:nvSpPr>
        <p:spPr/>
        <p:txBody>
          <a:bodyPr/>
          <a:lstStyle/>
          <a:p>
            <a:fld id="{EE39EF0C-C114-7840-80B3-1DAE10CE695E}" type="datetime1">
              <a:rPr kumimoji="1" lang="zh-CN" altLang="en-US" smtClean="0"/>
              <a:t>2026/9/28</a:t>
            </a:fld>
            <a:endParaRPr kumimoji="1" lang="zh-CN" altLang="en-US"/>
          </a:p>
        </p:txBody>
      </p:sp>
      <p:sp>
        <p:nvSpPr>
          <p:cNvPr id="8" name="页脚占位符 7">
            <a:extLst>
              <a:ext uri="{FF2B5EF4-FFF2-40B4-BE49-F238E27FC236}">
                <a16:creationId xmlns:a16="http://schemas.microsoft.com/office/drawing/2014/main" id="{0AD8E435-9FA5-34D7-D3BF-A78515D70344}"/>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9" name="灯片编号占位符 8">
            <a:extLst>
              <a:ext uri="{FF2B5EF4-FFF2-40B4-BE49-F238E27FC236}">
                <a16:creationId xmlns:a16="http://schemas.microsoft.com/office/drawing/2014/main" id="{BFC3135F-81FD-F121-0D18-EC8E7DC04FEF}"/>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8893498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B9CE6F-0D34-7CCA-AF51-AFF1D93DEF70}"/>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8A1DC0FA-E057-259A-7FE0-9A017D309C62}"/>
              </a:ext>
            </a:extLst>
          </p:cNvPr>
          <p:cNvSpPr>
            <a:spLocks noGrp="1"/>
          </p:cNvSpPr>
          <p:nvPr>
            <p:ph type="dt" sz="half" idx="10"/>
          </p:nvPr>
        </p:nvSpPr>
        <p:spPr/>
        <p:txBody>
          <a:bodyPr/>
          <a:lstStyle/>
          <a:p>
            <a:fld id="{1D234C8A-0ABB-9346-A612-23806130D01E}" type="datetime1">
              <a:rPr kumimoji="1" lang="zh-CN" altLang="en-US" smtClean="0"/>
              <a:t>2026/9/28</a:t>
            </a:fld>
            <a:endParaRPr kumimoji="1" lang="zh-CN" altLang="en-US"/>
          </a:p>
        </p:txBody>
      </p:sp>
      <p:sp>
        <p:nvSpPr>
          <p:cNvPr id="4" name="页脚占位符 3">
            <a:extLst>
              <a:ext uri="{FF2B5EF4-FFF2-40B4-BE49-F238E27FC236}">
                <a16:creationId xmlns:a16="http://schemas.microsoft.com/office/drawing/2014/main" id="{49367B38-3E66-CC01-69EE-D68C19A85921}"/>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5" name="灯片编号占位符 4">
            <a:extLst>
              <a:ext uri="{FF2B5EF4-FFF2-40B4-BE49-F238E27FC236}">
                <a16:creationId xmlns:a16="http://schemas.microsoft.com/office/drawing/2014/main" id="{5701E5A5-CA05-B777-043A-3D04045F16B6}"/>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168663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26521A0-B680-9711-7D72-320BBF4FC09A}"/>
              </a:ext>
            </a:extLst>
          </p:cNvPr>
          <p:cNvSpPr>
            <a:spLocks noGrp="1"/>
          </p:cNvSpPr>
          <p:nvPr>
            <p:ph type="dt" sz="half" idx="10"/>
          </p:nvPr>
        </p:nvSpPr>
        <p:spPr/>
        <p:txBody>
          <a:bodyPr/>
          <a:lstStyle/>
          <a:p>
            <a:fld id="{8C1BE1F5-21D5-A640-806D-FF7D7D9DDF39}" type="datetime1">
              <a:rPr kumimoji="1" lang="zh-CN" altLang="en-US" smtClean="0"/>
              <a:t>2026/9/28</a:t>
            </a:fld>
            <a:endParaRPr kumimoji="1" lang="zh-CN" altLang="en-US"/>
          </a:p>
        </p:txBody>
      </p:sp>
      <p:sp>
        <p:nvSpPr>
          <p:cNvPr id="3" name="页脚占位符 2">
            <a:extLst>
              <a:ext uri="{FF2B5EF4-FFF2-40B4-BE49-F238E27FC236}">
                <a16:creationId xmlns:a16="http://schemas.microsoft.com/office/drawing/2014/main" id="{5D869DCA-3EF4-FA66-08EB-9BC57D7352BB}"/>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4" name="灯片编号占位符 3">
            <a:extLst>
              <a:ext uri="{FF2B5EF4-FFF2-40B4-BE49-F238E27FC236}">
                <a16:creationId xmlns:a16="http://schemas.microsoft.com/office/drawing/2014/main" id="{3DDC9DFC-A123-3F26-6C3E-8AA23E0BE7EF}"/>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1282539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1C2B-C0B5-E2FD-6CEA-F0F6E782A619}"/>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C69053B7-16D7-9F9C-75B1-CCED397A45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8A769E91-8FFC-A5C1-75F7-9F4A5DCC68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06C4CA45-1A00-D0AA-8BB5-483D026545D5}"/>
              </a:ext>
            </a:extLst>
          </p:cNvPr>
          <p:cNvSpPr>
            <a:spLocks noGrp="1"/>
          </p:cNvSpPr>
          <p:nvPr>
            <p:ph type="dt" sz="half" idx="10"/>
          </p:nvPr>
        </p:nvSpPr>
        <p:spPr/>
        <p:txBody>
          <a:bodyPr/>
          <a:lstStyle/>
          <a:p>
            <a:fld id="{96A7F32E-C34B-334B-A2A5-FCEFEDE24B48}" type="datetime1">
              <a:rPr kumimoji="1" lang="zh-CN" altLang="en-US" smtClean="0"/>
              <a:t>2026/9/28</a:t>
            </a:fld>
            <a:endParaRPr kumimoji="1" lang="zh-CN" altLang="en-US"/>
          </a:p>
        </p:txBody>
      </p:sp>
      <p:sp>
        <p:nvSpPr>
          <p:cNvPr id="6" name="页脚占位符 5">
            <a:extLst>
              <a:ext uri="{FF2B5EF4-FFF2-40B4-BE49-F238E27FC236}">
                <a16:creationId xmlns:a16="http://schemas.microsoft.com/office/drawing/2014/main" id="{8F4EC6F0-AEE6-ECFE-5059-E7E44700ECD3}"/>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7" name="灯片编号占位符 6">
            <a:extLst>
              <a:ext uri="{FF2B5EF4-FFF2-40B4-BE49-F238E27FC236}">
                <a16:creationId xmlns:a16="http://schemas.microsoft.com/office/drawing/2014/main" id="{F81B3F9E-B868-57B7-D82E-3C67A2EC610D}"/>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14207421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83F3A1-EDB5-4B5B-ACEB-AA16A76A27E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ACBF24A2-94EB-45C1-FFF0-6B8C64C865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0634B7BE-5FB3-4DA7-1D77-C2824E3322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0C77CD65-4A95-40EE-ED90-67A7B543094F}"/>
              </a:ext>
            </a:extLst>
          </p:cNvPr>
          <p:cNvSpPr>
            <a:spLocks noGrp="1"/>
          </p:cNvSpPr>
          <p:nvPr>
            <p:ph type="dt" sz="half" idx="10"/>
          </p:nvPr>
        </p:nvSpPr>
        <p:spPr/>
        <p:txBody>
          <a:bodyPr/>
          <a:lstStyle/>
          <a:p>
            <a:fld id="{A2AF1126-60BC-B541-819D-6BDCCCCB8E82}" type="datetime1">
              <a:rPr kumimoji="1" lang="zh-CN" altLang="en-US" smtClean="0"/>
              <a:t>2026/9/28</a:t>
            </a:fld>
            <a:endParaRPr kumimoji="1" lang="zh-CN" altLang="en-US"/>
          </a:p>
        </p:txBody>
      </p:sp>
      <p:sp>
        <p:nvSpPr>
          <p:cNvPr id="6" name="页脚占位符 5">
            <a:extLst>
              <a:ext uri="{FF2B5EF4-FFF2-40B4-BE49-F238E27FC236}">
                <a16:creationId xmlns:a16="http://schemas.microsoft.com/office/drawing/2014/main" id="{39D4936D-2923-EEA8-5FD0-9CD1CC75273F}"/>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7" name="灯片编号占位符 6">
            <a:extLst>
              <a:ext uri="{FF2B5EF4-FFF2-40B4-BE49-F238E27FC236}">
                <a16:creationId xmlns:a16="http://schemas.microsoft.com/office/drawing/2014/main" id="{F0622EFA-7E60-59E2-5761-441D91E9E201}"/>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42305874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883EFDD-0946-87C8-1789-54520C9F8943}"/>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056AB271-04A9-B709-3B34-1A512F28868C}"/>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E99505C-3447-4CE7-1A35-F2D4CA377D6E}"/>
              </a:ext>
            </a:extLst>
          </p:cNvPr>
          <p:cNvSpPr>
            <a:spLocks noGrp="1"/>
          </p:cNvSpPr>
          <p:nvPr>
            <p:ph type="dt" sz="half" idx="10"/>
          </p:nvPr>
        </p:nvSpPr>
        <p:spPr/>
        <p:txBody>
          <a:bodyPr/>
          <a:lstStyle/>
          <a:p>
            <a:fld id="{46A6FCFD-FFF5-B64D-82E6-4CDC6C2795C4}" type="datetime1">
              <a:rPr kumimoji="1" lang="zh-CN" altLang="en-US" smtClean="0"/>
              <a:t>2026/9/28</a:t>
            </a:fld>
            <a:endParaRPr kumimoji="1" lang="zh-CN" altLang="en-US"/>
          </a:p>
        </p:txBody>
      </p:sp>
      <p:sp>
        <p:nvSpPr>
          <p:cNvPr id="5" name="页脚占位符 4">
            <a:extLst>
              <a:ext uri="{FF2B5EF4-FFF2-40B4-BE49-F238E27FC236}">
                <a16:creationId xmlns:a16="http://schemas.microsoft.com/office/drawing/2014/main" id="{64070A12-B984-2B43-840A-C21A58D032AD}"/>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6" name="灯片编号占位符 5">
            <a:extLst>
              <a:ext uri="{FF2B5EF4-FFF2-40B4-BE49-F238E27FC236}">
                <a16:creationId xmlns:a16="http://schemas.microsoft.com/office/drawing/2014/main" id="{9EE9D1AA-3D08-528F-6D12-C0D1DB051EC3}"/>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42670282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9F1ED7-4436-46B3-7DC3-C1B707288BB3}"/>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92B83C2-E229-A2F8-0660-FFA0C3098655}"/>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32D53801-36CA-A929-DED1-D08B077C8ECE}"/>
              </a:ext>
            </a:extLst>
          </p:cNvPr>
          <p:cNvSpPr>
            <a:spLocks noGrp="1"/>
          </p:cNvSpPr>
          <p:nvPr>
            <p:ph type="dt" sz="half" idx="10"/>
          </p:nvPr>
        </p:nvSpPr>
        <p:spPr/>
        <p:txBody>
          <a:bodyPr/>
          <a:lstStyle/>
          <a:p>
            <a:fld id="{1B820AED-285E-F445-BD75-6D1C6DF47B20}" type="datetime1">
              <a:rPr kumimoji="1" lang="zh-CN" altLang="en-US" smtClean="0"/>
              <a:t>2026/9/28</a:t>
            </a:fld>
            <a:endParaRPr kumimoji="1" lang="zh-CN" altLang="en-US"/>
          </a:p>
        </p:txBody>
      </p:sp>
      <p:sp>
        <p:nvSpPr>
          <p:cNvPr id="5" name="页脚占位符 4">
            <a:extLst>
              <a:ext uri="{FF2B5EF4-FFF2-40B4-BE49-F238E27FC236}">
                <a16:creationId xmlns:a16="http://schemas.microsoft.com/office/drawing/2014/main" id="{C2C3BCE7-D34D-6B0A-61A8-0898EF72C702}"/>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
        <p:nvSpPr>
          <p:cNvPr id="6" name="灯片编号占位符 5">
            <a:extLst>
              <a:ext uri="{FF2B5EF4-FFF2-40B4-BE49-F238E27FC236}">
                <a16:creationId xmlns:a16="http://schemas.microsoft.com/office/drawing/2014/main" id="{6A6C1ED7-6D07-D115-110E-F2B080164D18}"/>
              </a:ext>
            </a:extLst>
          </p:cNvPr>
          <p:cNvSpPr>
            <a:spLocks noGrp="1"/>
          </p:cNvSpPr>
          <p:nvPr>
            <p:ph type="sldNum" sz="quarter" idx="12"/>
          </p:nvPr>
        </p:nvSpPr>
        <p:spPr/>
        <p:txBody>
          <a:body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6344572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0A0F6443-5C44-B6F8-A97A-227A0C762E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04B624CA-CC8A-B423-3FBF-2ABD878B02F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0FB55676-5F05-47A0-A235-8180D7724F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AEAFB95-80CB-8D4D-9E66-4CED8203E9A1}" type="datetime1">
              <a:rPr kumimoji="1" lang="zh-CN" altLang="en-US" smtClean="0"/>
              <a:t>2026/9/28</a:t>
            </a:fld>
            <a:endParaRPr kumimoji="1" lang="zh-CN" altLang="en-US"/>
          </a:p>
        </p:txBody>
      </p:sp>
      <p:sp>
        <p:nvSpPr>
          <p:cNvPr id="5" name="页脚占位符 4">
            <a:extLst>
              <a:ext uri="{FF2B5EF4-FFF2-40B4-BE49-F238E27FC236}">
                <a16:creationId xmlns:a16="http://schemas.microsoft.com/office/drawing/2014/main" id="{88CE14B7-DAD2-2724-4B6E-4FF5E8A67F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de-CH" altLang="zh-CN"/>
              <a:t>Generative AI was only used for language editing</a:t>
            </a:r>
            <a:endParaRPr kumimoji="1" lang="zh-CN" altLang="en-US"/>
          </a:p>
        </p:txBody>
      </p:sp>
      <p:sp>
        <p:nvSpPr>
          <p:cNvPr id="6" name="灯片编号占位符 5">
            <a:extLst>
              <a:ext uri="{FF2B5EF4-FFF2-40B4-BE49-F238E27FC236}">
                <a16:creationId xmlns:a16="http://schemas.microsoft.com/office/drawing/2014/main" id="{841A1790-32F7-96B7-36C6-0F513C3D2B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E71D866-4F28-F04C-B500-EB8B0CD1F380}" type="slidenum">
              <a:rPr kumimoji="1" lang="zh-CN" altLang="en-US" smtClean="0"/>
              <a:t>‹#›</a:t>
            </a:fld>
            <a:endParaRPr kumimoji="1" lang="zh-CN" altLang="en-US"/>
          </a:p>
        </p:txBody>
      </p:sp>
    </p:spTree>
    <p:extLst>
      <p:ext uri="{BB962C8B-B14F-4D97-AF65-F5344CB8AC3E}">
        <p14:creationId xmlns:p14="http://schemas.microsoft.com/office/powerpoint/2010/main" val="14019667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63EBB99-1BF4-19EC-E51E-95EED5CD194B}"/>
              </a:ext>
            </a:extLst>
          </p:cNvPr>
          <p:cNvSpPr txBox="1">
            <a:spLocks/>
          </p:cNvSpPr>
          <p:nvPr/>
        </p:nvSpPr>
        <p:spPr>
          <a:xfrm>
            <a:off x="348028" y="1822850"/>
            <a:ext cx="11650662" cy="625944"/>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3600" b="1" kern="1200" spc="0" baseline="0">
                <a:solidFill>
                  <a:schemeClr val="tx1"/>
                </a:solidFill>
                <a:latin typeface="+mj-lt"/>
                <a:ea typeface="+mj-ea"/>
                <a:cs typeface="+mj-cs"/>
              </a:defRPr>
            </a:lvl1pPr>
          </a:lstStyle>
          <a:p>
            <a:r>
              <a:rPr lang="en-US" sz="2800" dirty="0">
                <a:latin typeface="Calibri" panose="020F0502020204030204" pitchFamily="34" charset="0"/>
                <a:ea typeface="+mj-lt"/>
                <a:cs typeface="Calibri" panose="020F0502020204030204" pitchFamily="34" charset="0"/>
              </a:rPr>
              <a:t>Motivation</a:t>
            </a:r>
            <a:endParaRPr lang="zh-CN" altLang="en-US" sz="4000" dirty="0">
              <a:latin typeface="Calibri" panose="020F0502020204030204" pitchFamily="34" charset="0"/>
              <a:ea typeface="+mj-lt"/>
              <a:cs typeface="Calibri" panose="020F0502020204030204" pitchFamily="34" charset="0"/>
            </a:endParaRPr>
          </a:p>
        </p:txBody>
      </p:sp>
      <p:sp>
        <p:nvSpPr>
          <p:cNvPr id="7" name="Title 1">
            <a:extLst>
              <a:ext uri="{FF2B5EF4-FFF2-40B4-BE49-F238E27FC236}">
                <a16:creationId xmlns:a16="http://schemas.microsoft.com/office/drawing/2014/main" id="{EAEE5683-84A6-7F74-0517-EC154174F728}"/>
              </a:ext>
            </a:extLst>
          </p:cNvPr>
          <p:cNvSpPr txBox="1">
            <a:spLocks/>
          </p:cNvSpPr>
          <p:nvPr/>
        </p:nvSpPr>
        <p:spPr>
          <a:xfrm>
            <a:off x="348028" y="223819"/>
            <a:ext cx="11650662" cy="625944"/>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3600" b="1" kern="1200" spc="0" baseline="0">
                <a:solidFill>
                  <a:schemeClr val="tx1"/>
                </a:solidFill>
                <a:latin typeface="+mj-lt"/>
                <a:ea typeface="+mj-ea"/>
                <a:cs typeface="+mj-cs"/>
              </a:defRPr>
            </a:lvl1pPr>
          </a:lstStyle>
          <a:p>
            <a:r>
              <a:rPr lang="en-US" altLang="zh-CN" sz="2800" dirty="0">
                <a:latin typeface="Calibri" panose="020F0502020204030204" pitchFamily="34" charset="0"/>
                <a:ea typeface="+mj-lt"/>
                <a:cs typeface="Calibri" panose="020F0502020204030204" pitchFamily="34" charset="0"/>
              </a:rPr>
              <a:t>Current Status</a:t>
            </a:r>
            <a:endParaRPr lang="zh-CN" altLang="en-US" sz="2800" dirty="0">
              <a:latin typeface="Calibri" panose="020F0502020204030204" pitchFamily="34" charset="0"/>
              <a:ea typeface="+mj-lt"/>
              <a:cs typeface="Calibri" panose="020F0502020204030204" pitchFamily="34" charset="0"/>
            </a:endParaRPr>
          </a:p>
        </p:txBody>
      </p:sp>
      <p:sp>
        <p:nvSpPr>
          <p:cNvPr id="8" name="Title 1">
            <a:extLst>
              <a:ext uri="{FF2B5EF4-FFF2-40B4-BE49-F238E27FC236}">
                <a16:creationId xmlns:a16="http://schemas.microsoft.com/office/drawing/2014/main" id="{A7085256-E92A-E2BA-C3BA-6B76CBA43BB7}"/>
              </a:ext>
            </a:extLst>
          </p:cNvPr>
          <p:cNvSpPr txBox="1">
            <a:spLocks/>
          </p:cNvSpPr>
          <p:nvPr/>
        </p:nvSpPr>
        <p:spPr>
          <a:xfrm>
            <a:off x="348028" y="4842248"/>
            <a:ext cx="11650662" cy="625944"/>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3600" b="1" kern="1200" spc="0" baseline="0">
                <a:solidFill>
                  <a:schemeClr val="tx1"/>
                </a:solidFill>
                <a:latin typeface="+mj-lt"/>
                <a:ea typeface="+mj-ea"/>
                <a:cs typeface="+mj-cs"/>
              </a:defRPr>
            </a:lvl1pPr>
          </a:lstStyle>
          <a:p>
            <a:r>
              <a:rPr lang="en-US" altLang="zh-CN" sz="2800" dirty="0">
                <a:latin typeface="Calibri" panose="020F0502020204030204" pitchFamily="34" charset="0"/>
                <a:ea typeface="+mj-lt"/>
                <a:cs typeface="Calibri" panose="020F0502020204030204" pitchFamily="34" charset="0"/>
              </a:rPr>
              <a:t>Research Question</a:t>
            </a:r>
            <a:endParaRPr lang="zh-CN" altLang="en-US" sz="2800" dirty="0">
              <a:latin typeface="Calibri" panose="020F0502020204030204" pitchFamily="34" charset="0"/>
              <a:ea typeface="+mj-lt"/>
              <a:cs typeface="Calibri" panose="020F0502020204030204" pitchFamily="34" charset="0"/>
            </a:endParaRPr>
          </a:p>
        </p:txBody>
      </p:sp>
      <p:sp>
        <p:nvSpPr>
          <p:cNvPr id="9" name="文本框 8">
            <a:extLst>
              <a:ext uri="{FF2B5EF4-FFF2-40B4-BE49-F238E27FC236}">
                <a16:creationId xmlns:a16="http://schemas.microsoft.com/office/drawing/2014/main" id="{A835E1F6-061E-A8A1-AA97-E8B3A253B828}"/>
              </a:ext>
            </a:extLst>
          </p:cNvPr>
          <p:cNvSpPr txBox="1"/>
          <p:nvPr/>
        </p:nvSpPr>
        <p:spPr>
          <a:xfrm>
            <a:off x="557135" y="676734"/>
            <a:ext cx="10845210" cy="798745"/>
          </a:xfrm>
          <a:prstGeom prst="rect">
            <a:avLst/>
          </a:prstGeom>
          <a:noFill/>
        </p:spPr>
        <p:txBody>
          <a:bodyPr wrap="square" rtlCol="0">
            <a:spAutoFit/>
          </a:bodyPr>
          <a:lstStyle/>
          <a:p>
            <a:pPr>
              <a:lnSpc>
                <a:spcPct val="120000"/>
              </a:lnSpc>
            </a:pPr>
            <a:r>
              <a:rPr lang="zh-CN" altLang="zh-CN" sz="2000" dirty="0">
                <a:latin typeface="Times New Roman" panose="02020603050405020304" pitchFamily="18" charset="0"/>
                <a:cs typeface="Times New Roman" panose="02020603050405020304" pitchFamily="18" charset="0"/>
              </a:rPr>
              <a:t>I am currently more interested in the </a:t>
            </a:r>
            <a:r>
              <a:rPr lang="zh-CN" altLang="zh-CN" sz="2000" b="1" dirty="0">
                <a:latin typeface="Times New Roman" panose="02020603050405020304" pitchFamily="18" charset="0"/>
                <a:cs typeface="Times New Roman" panose="02020603050405020304" pitchFamily="18" charset="0"/>
              </a:rPr>
              <a:t>urban heat</a:t>
            </a:r>
            <a:r>
              <a:rPr lang="zh-CN" altLang="zh-CN" sz="2000" dirty="0">
                <a:latin typeface="Times New Roman" panose="02020603050405020304" pitchFamily="18" charset="0"/>
                <a:cs typeface="Times New Roman" panose="02020603050405020304" pitchFamily="18" charset="0"/>
              </a:rPr>
              <a:t> topic because it seems more feasible and easier to manage. There are also more related studies, so I can learn from their methods.</a:t>
            </a:r>
            <a:endParaRPr kumimoji="1" lang="zh-CN" altLang="en-US" sz="2000" dirty="0">
              <a:latin typeface="Times New Roman" panose="02020603050405020304" pitchFamily="18" charset="0"/>
              <a:cs typeface="Times New Roman" panose="02020603050405020304" pitchFamily="18" charset="0"/>
            </a:endParaRPr>
          </a:p>
        </p:txBody>
      </p:sp>
      <p:sp>
        <p:nvSpPr>
          <p:cNvPr id="10" name="文本框 9">
            <a:extLst>
              <a:ext uri="{FF2B5EF4-FFF2-40B4-BE49-F238E27FC236}">
                <a16:creationId xmlns:a16="http://schemas.microsoft.com/office/drawing/2014/main" id="{23132EFE-C9B2-038B-85BB-AA7FA8E8A442}"/>
              </a:ext>
            </a:extLst>
          </p:cNvPr>
          <p:cNvSpPr txBox="1"/>
          <p:nvPr/>
        </p:nvSpPr>
        <p:spPr>
          <a:xfrm>
            <a:off x="557135" y="2233638"/>
            <a:ext cx="10961470" cy="2276072"/>
          </a:xfrm>
          <a:prstGeom prst="rect">
            <a:avLst/>
          </a:prstGeom>
          <a:noFill/>
        </p:spPr>
        <p:txBody>
          <a:bodyPr wrap="square" rtlCol="0">
            <a:spAutoFit/>
          </a:bodyPr>
          <a:lstStyle/>
          <a:p>
            <a:pPr>
              <a:lnSpc>
                <a:spcPct val="120000"/>
              </a:lnSpc>
            </a:pPr>
            <a:r>
              <a:rPr lang="zh-CN" altLang="zh-CN" sz="2000" dirty="0">
                <a:latin typeface="Times New Roman" panose="02020603050405020304" pitchFamily="18" charset="0"/>
                <a:cs typeface="Times New Roman" panose="02020603050405020304" pitchFamily="18" charset="0"/>
              </a:rPr>
              <a:t>With global warming, extreme heat events are becoming more common.</a:t>
            </a:r>
          </a:p>
          <a:p>
            <a:pPr>
              <a:lnSpc>
                <a:spcPct val="120000"/>
              </a:lnSpc>
            </a:pPr>
            <a:r>
              <a:rPr lang="zh-CN" altLang="zh-CN" sz="2000" dirty="0">
                <a:latin typeface="Times New Roman" panose="02020603050405020304" pitchFamily="18" charset="0"/>
                <a:cs typeface="Times New Roman" panose="02020603050405020304" pitchFamily="18" charset="0"/>
              </a:rPr>
              <a:t>Beijing has developed and expanded rapidly over the past 30 years. As a large and densely populated city, it is also strongly affected by the urban heat island effect.</a:t>
            </a:r>
          </a:p>
          <a:p>
            <a:pPr>
              <a:lnSpc>
                <a:spcPct val="120000"/>
              </a:lnSpc>
            </a:pPr>
            <a:r>
              <a:rPr lang="zh-CN" altLang="zh-CN" sz="2000" dirty="0">
                <a:latin typeface="Times New Roman" panose="02020603050405020304" pitchFamily="18" charset="0"/>
                <a:cs typeface="Times New Roman" panose="02020603050405020304" pitchFamily="18" charset="0"/>
              </a:rPr>
              <a:t>In recent years, extreme summer heat has affected people's daily lives and health. By studying how urban heat changes over time and space, this project may provide useful information for understanding and reducing heat risks.</a:t>
            </a:r>
          </a:p>
        </p:txBody>
      </p:sp>
      <p:sp>
        <p:nvSpPr>
          <p:cNvPr id="11" name="文本框 10">
            <a:extLst>
              <a:ext uri="{FF2B5EF4-FFF2-40B4-BE49-F238E27FC236}">
                <a16:creationId xmlns:a16="http://schemas.microsoft.com/office/drawing/2014/main" id="{1E56CB14-4D81-D89A-B50E-B66E2F61D7CF}"/>
              </a:ext>
            </a:extLst>
          </p:cNvPr>
          <p:cNvSpPr txBox="1"/>
          <p:nvPr/>
        </p:nvSpPr>
        <p:spPr>
          <a:xfrm>
            <a:off x="557135" y="5305985"/>
            <a:ext cx="10961470" cy="798745"/>
          </a:xfrm>
          <a:prstGeom prst="rect">
            <a:avLst/>
          </a:prstGeom>
          <a:noFill/>
        </p:spPr>
        <p:txBody>
          <a:bodyPr wrap="square" rtlCol="0">
            <a:spAutoFit/>
          </a:bodyPr>
          <a:lstStyle/>
          <a:p>
            <a:pPr>
              <a:lnSpc>
                <a:spcPct val="120000"/>
              </a:lnSpc>
            </a:pPr>
            <a:r>
              <a:rPr lang="zh-CN" altLang="zh-CN" sz="2000" dirty="0">
                <a:latin typeface="Times New Roman" panose="02020603050405020304" pitchFamily="18" charset="0"/>
                <a:cs typeface="Times New Roman" panose="02020603050405020304" pitchFamily="18" charset="0"/>
              </a:rPr>
              <a:t>How have urban heat hotspots in Beijing changed over space and time during the past 30 years, and how are these changes related to land-cover change?</a:t>
            </a:r>
            <a:endParaRPr kumimoji="1" lang="zh-CN" altLang="en-US" sz="2000" dirty="0">
              <a:latin typeface="Times New Roman" panose="02020603050405020304" pitchFamily="18" charset="0"/>
              <a:cs typeface="Times New Roman" panose="02020603050405020304" pitchFamily="18" charset="0"/>
            </a:endParaRPr>
          </a:p>
        </p:txBody>
      </p:sp>
      <p:sp>
        <p:nvSpPr>
          <p:cNvPr id="14" name="页脚占位符 13">
            <a:extLst>
              <a:ext uri="{FF2B5EF4-FFF2-40B4-BE49-F238E27FC236}">
                <a16:creationId xmlns:a16="http://schemas.microsoft.com/office/drawing/2014/main" id="{BF828901-6DFF-AB1B-7FBB-FD2AEA623EF1}"/>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Tree>
    <p:extLst>
      <p:ext uri="{BB962C8B-B14F-4D97-AF65-F5344CB8AC3E}">
        <p14:creationId xmlns:p14="http://schemas.microsoft.com/office/powerpoint/2010/main" val="39139036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0AE03-ABFC-F25A-6831-9DC89156EE4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FE759AC-2539-1BBF-4643-A9DF48770DDF}"/>
              </a:ext>
            </a:extLst>
          </p:cNvPr>
          <p:cNvSpPr txBox="1">
            <a:spLocks/>
          </p:cNvSpPr>
          <p:nvPr/>
        </p:nvSpPr>
        <p:spPr>
          <a:xfrm>
            <a:off x="348028" y="223819"/>
            <a:ext cx="11650662" cy="625944"/>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3600" b="1" kern="1200" spc="0" baseline="0">
                <a:solidFill>
                  <a:schemeClr val="tx1"/>
                </a:solidFill>
                <a:latin typeface="+mj-lt"/>
                <a:ea typeface="+mj-ea"/>
                <a:cs typeface="+mj-cs"/>
              </a:defRPr>
            </a:lvl1pPr>
          </a:lstStyle>
          <a:p>
            <a:r>
              <a:rPr lang="zh-CN" altLang="zh-CN" sz="2800" dirty="0">
                <a:latin typeface="Calibri" panose="020F0502020204030204" pitchFamily="34" charset="0"/>
                <a:cs typeface="Calibri" panose="020F0502020204030204" pitchFamily="34" charset="0"/>
              </a:rPr>
              <a:t>ALIGNMENT STATE</a:t>
            </a:r>
          </a:p>
        </p:txBody>
      </p:sp>
      <p:sp>
        <p:nvSpPr>
          <p:cNvPr id="3" name="文本框 2">
            <a:extLst>
              <a:ext uri="{FF2B5EF4-FFF2-40B4-BE49-F238E27FC236}">
                <a16:creationId xmlns:a16="http://schemas.microsoft.com/office/drawing/2014/main" id="{1F2A9572-9F3E-DB69-35E5-F6283BB8E568}"/>
              </a:ext>
            </a:extLst>
          </p:cNvPr>
          <p:cNvSpPr txBox="1"/>
          <p:nvPr/>
        </p:nvSpPr>
        <p:spPr>
          <a:xfrm>
            <a:off x="692624" y="750473"/>
            <a:ext cx="10961470" cy="4492064"/>
          </a:xfrm>
          <a:prstGeom prst="rect">
            <a:avLst/>
          </a:prstGeom>
          <a:noFill/>
        </p:spPr>
        <p:txBody>
          <a:bodyPr wrap="square" rtlCol="0">
            <a:spAutoFit/>
          </a:bodyPr>
          <a:lstStyle/>
          <a:p>
            <a:pPr>
              <a:lnSpc>
                <a:spcPct val="120000"/>
              </a:lnSpc>
            </a:pPr>
            <a:r>
              <a:rPr lang="zh-CN" altLang="zh-CN" sz="2000" b="1" dirty="0">
                <a:latin typeface="Times New Roman" panose="02020603050405020304" pitchFamily="18" charset="0"/>
                <a:cs typeface="Times New Roman" panose="02020603050405020304" pitchFamily="18" charset="0"/>
              </a:rPr>
              <a:t>Data</a:t>
            </a:r>
            <a:endParaRPr lang="zh-CN" altLang="zh-CN" sz="2000" dirty="0">
              <a:latin typeface="Times New Roman" panose="02020603050405020304" pitchFamily="18" charset="0"/>
              <a:cs typeface="Times New Roman" panose="02020603050405020304" pitchFamily="18" charset="0"/>
            </a:endParaRP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I plan to use Landsat data from 1995 to 2025, mainly from summer (June–August).</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I will use the data to study changes in Land Surface Temperature (LST).</a:t>
            </a:r>
          </a:p>
          <a:p>
            <a:pPr>
              <a:lnSpc>
                <a:spcPct val="120000"/>
              </a:lnSpc>
            </a:pPr>
            <a:r>
              <a:rPr lang="zh-CN" altLang="zh-CN" sz="2000" b="1" dirty="0">
                <a:latin typeface="Times New Roman" panose="02020603050405020304" pitchFamily="18" charset="0"/>
                <a:cs typeface="Times New Roman" panose="02020603050405020304" pitchFamily="18" charset="0"/>
              </a:rPr>
              <a:t>How to define hotspots</a:t>
            </a:r>
            <a:endParaRPr lang="zh-CN" altLang="zh-CN" sz="2000" dirty="0">
              <a:latin typeface="Times New Roman" panose="02020603050405020304" pitchFamily="18" charset="0"/>
              <a:cs typeface="Times New Roman" panose="02020603050405020304" pitchFamily="18" charset="0"/>
            </a:endParaRP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My current idea is to use Landsat data from June to August each year and calculate the median LST for each pixel to create an annual summer LST map. Then, I plan to select the top 5% hottest pixels as hotspot candidates and cluster these pixels.</a:t>
            </a:r>
            <a:endParaRPr lang="en-US" altLang="zh-CN" sz="2000" dirty="0">
              <a:latin typeface="Times New Roman" panose="02020603050405020304" pitchFamily="18" charset="0"/>
              <a:cs typeface="Times New Roman" panose="02020603050405020304" pitchFamily="18" charset="0"/>
            </a:endParaRP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However, I found that some studies use Getis–Ord Gi* to detect hotspots. I still need to learn more about this method and decide which method is more suitable for my project.</a:t>
            </a:r>
          </a:p>
          <a:p>
            <a:pPr>
              <a:lnSpc>
                <a:spcPct val="120000"/>
              </a:lnSpc>
            </a:pPr>
            <a:r>
              <a:rPr lang="zh-CN" altLang="zh-CN" sz="2000" b="1" dirty="0">
                <a:latin typeface="Times New Roman" panose="02020603050405020304" pitchFamily="18" charset="0"/>
                <a:cs typeface="Times New Roman" panose="02020603050405020304" pitchFamily="18" charset="0"/>
              </a:rPr>
              <a:t>Expected Output</a:t>
            </a:r>
            <a:endParaRPr lang="zh-CN" altLang="zh-CN" sz="2000" dirty="0">
              <a:latin typeface="Times New Roman" panose="02020603050405020304" pitchFamily="18" charset="0"/>
              <a:cs typeface="Times New Roman" panose="02020603050405020304" pitchFamily="18" charset="0"/>
            </a:endParaRP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Maps showing how urban heat hotspots have changed over the past 30 years.</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Compare the hotspot changes with land-cover changes to see if there is a relationship between them.</a:t>
            </a:r>
          </a:p>
        </p:txBody>
      </p:sp>
      <p:sp>
        <p:nvSpPr>
          <p:cNvPr id="11" name="页脚占位符 10">
            <a:extLst>
              <a:ext uri="{FF2B5EF4-FFF2-40B4-BE49-F238E27FC236}">
                <a16:creationId xmlns:a16="http://schemas.microsoft.com/office/drawing/2014/main" id="{D9084A0A-70CF-52BE-D2FC-B420AC48BADF}"/>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Tree>
    <p:extLst>
      <p:ext uri="{BB962C8B-B14F-4D97-AF65-F5344CB8AC3E}">
        <p14:creationId xmlns:p14="http://schemas.microsoft.com/office/powerpoint/2010/main" val="3388868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BE89B-8C06-22DE-35B6-68EEAE43DD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428321C-ED93-9CAD-CD78-DF283B9657AC}"/>
              </a:ext>
            </a:extLst>
          </p:cNvPr>
          <p:cNvSpPr txBox="1">
            <a:spLocks/>
          </p:cNvSpPr>
          <p:nvPr/>
        </p:nvSpPr>
        <p:spPr>
          <a:xfrm>
            <a:off x="421420" y="226607"/>
            <a:ext cx="11650662" cy="625944"/>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3600" b="1" kern="1200" spc="0" baseline="0">
                <a:solidFill>
                  <a:schemeClr val="tx1"/>
                </a:solidFill>
                <a:latin typeface="+mj-lt"/>
                <a:ea typeface="+mj-ea"/>
                <a:cs typeface="+mj-cs"/>
              </a:defRPr>
            </a:lvl1pPr>
          </a:lstStyle>
          <a:p>
            <a:r>
              <a:rPr lang="en-US" altLang="zh-CN" sz="2800" dirty="0">
                <a:latin typeface="Calibri" panose="020F0502020204030204" pitchFamily="34" charset="0"/>
                <a:ea typeface="+mj-lt"/>
                <a:cs typeface="Calibri" panose="020F0502020204030204" pitchFamily="34" charset="0"/>
              </a:rPr>
              <a:t>Uncertainty</a:t>
            </a:r>
            <a:endParaRPr lang="zh-CN" altLang="en-US" sz="2800" dirty="0">
              <a:latin typeface="Calibri" panose="020F0502020204030204" pitchFamily="34" charset="0"/>
              <a:ea typeface="+mj-lt"/>
              <a:cs typeface="Calibri" panose="020F0502020204030204" pitchFamily="34" charset="0"/>
            </a:endParaRPr>
          </a:p>
        </p:txBody>
      </p:sp>
      <p:sp>
        <p:nvSpPr>
          <p:cNvPr id="8" name="Title 1">
            <a:extLst>
              <a:ext uri="{FF2B5EF4-FFF2-40B4-BE49-F238E27FC236}">
                <a16:creationId xmlns:a16="http://schemas.microsoft.com/office/drawing/2014/main" id="{B3533812-84FD-FC51-91FB-9AFD4751338C}"/>
              </a:ext>
            </a:extLst>
          </p:cNvPr>
          <p:cNvSpPr txBox="1">
            <a:spLocks/>
          </p:cNvSpPr>
          <p:nvPr/>
        </p:nvSpPr>
        <p:spPr>
          <a:xfrm>
            <a:off x="421420" y="4234117"/>
            <a:ext cx="11650662" cy="625944"/>
          </a:xfrm>
          <a:prstGeom prst="rect">
            <a:avLst/>
          </a:prstGeom>
        </p:spPr>
        <p:txBody>
          <a:bodyPr vert="horz" lIns="0" tIns="0" rIns="0" bIns="0" rtlCol="0" anchor="t">
            <a:noAutofit/>
          </a:bodyPr>
          <a:lstStyle>
            <a:lvl1pPr algn="l" defTabSz="914400" rtl="0" eaLnBrk="1" latinLnBrk="0" hangingPunct="1">
              <a:lnSpc>
                <a:spcPct val="97000"/>
              </a:lnSpc>
              <a:spcBef>
                <a:spcPct val="0"/>
              </a:spcBef>
              <a:buNone/>
              <a:defRPr sz="3600" b="1" kern="1200" spc="0" baseline="0">
                <a:solidFill>
                  <a:schemeClr val="tx1"/>
                </a:solidFill>
                <a:latin typeface="+mj-lt"/>
                <a:ea typeface="+mj-ea"/>
                <a:cs typeface="+mj-cs"/>
              </a:defRPr>
            </a:lvl1pPr>
          </a:lstStyle>
          <a:p>
            <a:r>
              <a:rPr lang="en-US" altLang="zh-CN" sz="2800" dirty="0">
                <a:latin typeface="Calibri" panose="020F0502020204030204" pitchFamily="34" charset="0"/>
                <a:ea typeface="+mj-lt"/>
                <a:cs typeface="Calibri" panose="020F0502020204030204" pitchFamily="34" charset="0"/>
              </a:rPr>
              <a:t>Next Step</a:t>
            </a:r>
            <a:endParaRPr lang="zh-CN" altLang="en-US" sz="2800" dirty="0">
              <a:latin typeface="Calibri" panose="020F0502020204030204" pitchFamily="34" charset="0"/>
              <a:ea typeface="+mj-lt"/>
              <a:cs typeface="Calibri" panose="020F0502020204030204" pitchFamily="34" charset="0"/>
            </a:endParaRPr>
          </a:p>
        </p:txBody>
      </p:sp>
      <p:sp>
        <p:nvSpPr>
          <p:cNvPr id="4" name="文本框 3">
            <a:extLst>
              <a:ext uri="{FF2B5EF4-FFF2-40B4-BE49-F238E27FC236}">
                <a16:creationId xmlns:a16="http://schemas.microsoft.com/office/drawing/2014/main" id="{D68FC62C-0242-B916-289C-6187565FDB0C}"/>
              </a:ext>
            </a:extLst>
          </p:cNvPr>
          <p:cNvSpPr txBox="1"/>
          <p:nvPr/>
        </p:nvSpPr>
        <p:spPr>
          <a:xfrm>
            <a:off x="692624" y="730374"/>
            <a:ext cx="10961470" cy="3384068"/>
          </a:xfrm>
          <a:prstGeom prst="rect">
            <a:avLst/>
          </a:prstGeom>
          <a:noFill/>
        </p:spPr>
        <p:txBody>
          <a:bodyPr wrap="square" rtlCol="0">
            <a:spAutoFit/>
          </a:bodyPr>
          <a:lstStyle/>
          <a:p>
            <a:pPr>
              <a:lnSpc>
                <a:spcPct val="120000"/>
              </a:lnSpc>
            </a:pPr>
            <a:r>
              <a:rPr lang="zh-CN" altLang="zh-CN" sz="2000" b="1" dirty="0">
                <a:latin typeface="Times New Roman" panose="02020603050405020304" pitchFamily="18" charset="0"/>
                <a:cs typeface="Times New Roman" panose="02020603050405020304" pitchFamily="18" charset="0"/>
              </a:rPr>
              <a:t>Data</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How to ensure cross-sensor consistency among different generations of Landsat data over the 30-year study period.</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How to deal with differences in spatial resolution and maintain a consistent analysis scale.</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How cloud cover and missing observations may affect annual LST estimates.</a:t>
            </a:r>
          </a:p>
          <a:p>
            <a:pPr>
              <a:lnSpc>
                <a:spcPct val="120000"/>
              </a:lnSpc>
            </a:pPr>
            <a:r>
              <a:rPr lang="zh-CN" altLang="zh-CN" sz="2000" b="1" dirty="0">
                <a:latin typeface="Times New Roman" panose="02020603050405020304" pitchFamily="18" charset="0"/>
                <a:cs typeface="Times New Roman" panose="02020603050405020304" pitchFamily="18" charset="0"/>
              </a:rPr>
              <a:t>Methods</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Should hotspot detection be based on a fixed percentile threshold</a:t>
            </a:r>
            <a:r>
              <a:rPr lang="en-US" altLang="zh-CN" sz="2000" dirty="0">
                <a:latin typeface="Times New Roman" panose="02020603050405020304" pitchFamily="18" charset="0"/>
                <a:cs typeface="Times New Roman" panose="02020603050405020304" pitchFamily="18" charset="0"/>
              </a:rPr>
              <a:t>?</a:t>
            </a:r>
            <a:endParaRPr lang="zh-CN" altLang="zh-CN" sz="2000" dirty="0">
              <a:latin typeface="Times New Roman" panose="02020603050405020304" pitchFamily="18" charset="0"/>
              <a:cs typeface="Times New Roman" panose="02020603050405020304" pitchFamily="18" charset="0"/>
            </a:endParaRP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How can persistent hotspots be defined across multiple years?</a:t>
            </a:r>
          </a:p>
          <a:p>
            <a:pPr marL="342900" indent="-34290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Given the existing literature on urban heat hotspots, how can the project provide a distinct contribution?</a:t>
            </a:r>
          </a:p>
        </p:txBody>
      </p:sp>
      <p:sp>
        <p:nvSpPr>
          <p:cNvPr id="9" name="文本框 8">
            <a:extLst>
              <a:ext uri="{FF2B5EF4-FFF2-40B4-BE49-F238E27FC236}">
                <a16:creationId xmlns:a16="http://schemas.microsoft.com/office/drawing/2014/main" id="{61D801C5-19A5-3F3F-D6DF-8A395BB9CFD8}"/>
              </a:ext>
            </a:extLst>
          </p:cNvPr>
          <p:cNvSpPr txBox="1"/>
          <p:nvPr/>
        </p:nvSpPr>
        <p:spPr>
          <a:xfrm>
            <a:off x="615265" y="4777422"/>
            <a:ext cx="10961470" cy="1537409"/>
          </a:xfrm>
          <a:prstGeom prst="rect">
            <a:avLst/>
          </a:prstGeom>
          <a:noFill/>
        </p:spPr>
        <p:txBody>
          <a:bodyPr wrap="square" rtlCol="0">
            <a:spAutoFit/>
          </a:bodyPr>
          <a:lstStyle/>
          <a:p>
            <a:pPr marL="285750" indent="-28575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Review relevant literature and compare methods used for </a:t>
            </a:r>
            <a:r>
              <a:rPr lang="zh-CN" altLang="zh-CN" sz="2000" b="1" dirty="0">
                <a:latin typeface="Times New Roman" panose="02020603050405020304" pitchFamily="18" charset="0"/>
                <a:cs typeface="Times New Roman" panose="02020603050405020304" pitchFamily="18" charset="0"/>
              </a:rPr>
              <a:t>urban heat hotspot detection and long-term LST analysis</a:t>
            </a:r>
            <a:r>
              <a:rPr lang="zh-CN" altLang="zh-CN" sz="2000" dirty="0">
                <a:latin typeface="Times New Roman" panose="02020603050405020304" pitchFamily="18" charset="0"/>
                <a:cs typeface="Times New Roman" panose="02020603050405020304" pitchFamily="18" charset="0"/>
              </a:rPr>
              <a:t>.</a:t>
            </a:r>
            <a:endParaRPr lang="en-US" altLang="zh-CN" sz="2000" dirty="0">
              <a:latin typeface="Times New Roman" panose="02020603050405020304" pitchFamily="18" charset="0"/>
              <a:cs typeface="Times New Roman" panose="02020603050405020304" pitchFamily="18" charset="0"/>
            </a:endParaRPr>
          </a:p>
          <a:p>
            <a:pPr marL="285750" indent="-28575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Finalize the definition of </a:t>
            </a:r>
            <a:r>
              <a:rPr lang="zh-CN" altLang="zh-CN" sz="2000" b="1" dirty="0">
                <a:latin typeface="Times New Roman" panose="02020603050405020304" pitchFamily="18" charset="0"/>
                <a:cs typeface="Times New Roman" panose="02020603050405020304" pitchFamily="18" charset="0"/>
              </a:rPr>
              <a:t>hotspots and hotspot persistence</a:t>
            </a:r>
            <a:r>
              <a:rPr lang="zh-CN" altLang="zh-CN" sz="2000" dirty="0">
                <a:latin typeface="Times New Roman" panose="02020603050405020304" pitchFamily="18" charset="0"/>
                <a:cs typeface="Times New Roman" panose="02020603050405020304" pitchFamily="18" charset="0"/>
              </a:rPr>
              <a:t>.</a:t>
            </a:r>
            <a:endParaRPr lang="en-US" altLang="zh-CN" sz="2000" dirty="0">
              <a:latin typeface="Times New Roman" panose="02020603050405020304" pitchFamily="18" charset="0"/>
              <a:cs typeface="Times New Roman" panose="02020603050405020304" pitchFamily="18" charset="0"/>
            </a:endParaRPr>
          </a:p>
          <a:p>
            <a:pPr marL="285750" indent="-285750">
              <a:lnSpc>
                <a:spcPct val="120000"/>
              </a:lnSpc>
              <a:buFont typeface="Arial" panose="020B0604020202020204" pitchFamily="34" charset="0"/>
              <a:buChar char="•"/>
            </a:pPr>
            <a:r>
              <a:rPr lang="zh-CN" altLang="zh-CN" sz="2000" dirty="0">
                <a:latin typeface="Times New Roman" panose="02020603050405020304" pitchFamily="18" charset="0"/>
                <a:cs typeface="Times New Roman" panose="02020603050405020304" pitchFamily="18" charset="0"/>
              </a:rPr>
              <a:t>Identify the required datasets and test their availability and preprocessing workflow.</a:t>
            </a:r>
            <a:endParaRPr kumimoji="1" lang="zh-CN" altLang="en-US" sz="2000" dirty="0">
              <a:latin typeface="Times New Roman" panose="02020603050405020304" pitchFamily="18" charset="0"/>
              <a:cs typeface="Times New Roman" panose="02020603050405020304" pitchFamily="18" charset="0"/>
            </a:endParaRPr>
          </a:p>
        </p:txBody>
      </p:sp>
      <p:sp>
        <p:nvSpPr>
          <p:cNvPr id="11" name="页脚占位符 10">
            <a:extLst>
              <a:ext uri="{FF2B5EF4-FFF2-40B4-BE49-F238E27FC236}">
                <a16:creationId xmlns:a16="http://schemas.microsoft.com/office/drawing/2014/main" id="{0D8FAE10-86F4-F9D8-2FF3-2B06907A4293}"/>
              </a:ext>
            </a:extLst>
          </p:cNvPr>
          <p:cNvSpPr>
            <a:spLocks noGrp="1"/>
          </p:cNvSpPr>
          <p:nvPr>
            <p:ph type="ftr" sz="quarter" idx="11"/>
          </p:nvPr>
        </p:nvSpPr>
        <p:spPr/>
        <p:txBody>
          <a:bodyPr/>
          <a:lstStyle/>
          <a:p>
            <a:r>
              <a:rPr kumimoji="1" lang="de-CH" altLang="zh-CN"/>
              <a:t>Generative AI was only used for language editing</a:t>
            </a:r>
            <a:endParaRPr kumimoji="1" lang="zh-CN" altLang="en-US"/>
          </a:p>
        </p:txBody>
      </p:sp>
    </p:spTree>
    <p:extLst>
      <p:ext uri="{BB962C8B-B14F-4D97-AF65-F5344CB8AC3E}">
        <p14:creationId xmlns:p14="http://schemas.microsoft.com/office/powerpoint/2010/main" val="237788063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TotalTime>
  <Words>474</Words>
  <Application>Microsoft Macintosh PowerPoint</Application>
  <PresentationFormat>宽屏</PresentationFormat>
  <Paragraphs>34</Paragraphs>
  <Slides>3</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vt:i4>
      </vt:variant>
    </vt:vector>
  </HeadingPairs>
  <TitlesOfParts>
    <vt:vector size="9" baseType="lpstr">
      <vt:lpstr>等线</vt:lpstr>
      <vt:lpstr>等线 Light</vt:lpstr>
      <vt:lpstr>Arial</vt:lpstr>
      <vt:lpstr>Calibri</vt:lpstr>
      <vt:lpstr>Times New Roman</vt:lpstr>
      <vt:lpstr>Office 主题​​</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Meng Zhang</dc:creator>
  <cp:lastModifiedBy>Meng Zhang</cp:lastModifiedBy>
  <cp:revision>2</cp:revision>
  <dcterms:created xsi:type="dcterms:W3CDTF">2026-09-28T07:30:04Z</dcterms:created>
  <dcterms:modified xsi:type="dcterms:W3CDTF">2026-09-28T08:37:40Z</dcterms:modified>
</cp:coreProperties>
</file>